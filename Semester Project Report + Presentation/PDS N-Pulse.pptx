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Roboto ExtraBold"/>
      <p:bold r:id="rId39"/>
      <p:boldItalic r:id="rId40"/>
    </p:embeddedFont>
    <p:embeddedFont>
      <p:font typeface="Roboto Black"/>
      <p:bold r:id="rId41"/>
      <p:boldItalic r:id="rId42"/>
    </p:embeddedFont>
    <p:embeddedFont>
      <p:font typeface="Roboto"/>
      <p:regular r:id="rId43"/>
      <p:bold r:id="rId44"/>
      <p:italic r:id="rId45"/>
      <p:boldItalic r:id="rId46"/>
    </p:embeddedFont>
    <p:embeddedFont>
      <p:font typeface="Economica"/>
      <p:regular r:id="rId47"/>
      <p:bold r:id="rId48"/>
      <p:italic r:id="rId49"/>
      <p:boldItalic r:id="rId50"/>
    </p:embeddedFont>
    <p:embeddedFont>
      <p:font typeface="Roboto Light"/>
      <p:regular r:id="rId51"/>
      <p:bold r:id="rId52"/>
      <p:italic r:id="rId53"/>
      <p:boldItalic r:id="rId54"/>
    </p:embeddedFont>
    <p:embeddedFont>
      <p:font typeface="Inter T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FBB0A3-DA2B-4892-95B8-72DDE60E4E35}">
  <a:tblStyle styleId="{2CFBB0A3-DA2B-4892-95B8-72DDE60E4E3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ExtraBold-boldItalic.fntdata"/><Relationship Id="rId42" Type="http://schemas.openxmlformats.org/officeDocument/2006/relationships/font" Target="fonts/RobotoBlack-boldItalic.fntdata"/><Relationship Id="rId41" Type="http://schemas.openxmlformats.org/officeDocument/2006/relationships/font" Target="fonts/RobotoBlack-bold.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Economica-bold.fntdata"/><Relationship Id="rId47" Type="http://schemas.openxmlformats.org/officeDocument/2006/relationships/font" Target="fonts/Economica-regular.fntdata"/><Relationship Id="rId49" Type="http://schemas.openxmlformats.org/officeDocument/2006/relationships/font" Target="fonts/Economica-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RobotoExtraBold-bold.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Light-regular.fntdata"/><Relationship Id="rId50" Type="http://schemas.openxmlformats.org/officeDocument/2006/relationships/font" Target="fonts/Economica-boldItalic.fntdata"/><Relationship Id="rId53" Type="http://schemas.openxmlformats.org/officeDocument/2006/relationships/font" Target="fonts/RobotoLight-italic.fntdata"/><Relationship Id="rId52" Type="http://schemas.openxmlformats.org/officeDocument/2006/relationships/font" Target="fonts/RobotoLight-bold.fntdata"/><Relationship Id="rId11" Type="http://schemas.openxmlformats.org/officeDocument/2006/relationships/slide" Target="slides/slide5.xml"/><Relationship Id="rId55" Type="http://schemas.openxmlformats.org/officeDocument/2006/relationships/font" Target="fonts/InterTight-regular.fntdata"/><Relationship Id="rId10" Type="http://schemas.openxmlformats.org/officeDocument/2006/relationships/slide" Target="slides/slide4.xml"/><Relationship Id="rId54" Type="http://schemas.openxmlformats.org/officeDocument/2006/relationships/font" Target="fonts/RobotoLight-boldItalic.fntdata"/><Relationship Id="rId13" Type="http://schemas.openxmlformats.org/officeDocument/2006/relationships/slide" Target="slides/slide7.xml"/><Relationship Id="rId57" Type="http://schemas.openxmlformats.org/officeDocument/2006/relationships/font" Target="fonts/InterTight-italic.fntdata"/><Relationship Id="rId12" Type="http://schemas.openxmlformats.org/officeDocument/2006/relationships/slide" Target="slides/slide6.xml"/><Relationship Id="rId56" Type="http://schemas.openxmlformats.org/officeDocument/2006/relationships/font" Target="fonts/InterTight-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InterT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38ef7499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38ef7499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38ad5917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38ad5917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38ef7499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38ef7499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38ad5917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38ad5917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je pense que tu peux changer ou ne pas mettre cette image elle est beaucoup trop IA et elle n’apporte rien en plus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38ad5917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38ad5917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solidFill>
                  <a:schemeClr val="dk1"/>
                </a:solidFill>
              </a:rPr>
              <a:t>je pense que tu peux changer ou ne pas mettre cette image elle est beaucoup trop IA et elle n’apporte rien en plus. Tu as prévu de parler beaucoup du fait de pouvoir déconnecter la batterie ? si la réponse est non car on a pas reçu le composant principal mentionne et explique bien comment tu voulais l’utiliser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38ad5917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38ad5917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Fait gaffe on fait un avant bras seulement pas tout le bras. la batterie c’est du 4S et pas du 3S. simplifie le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38ad5917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38ad5917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4a46d7a7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4a46d7a7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38ef7499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38ef7499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38ad5917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38ad5917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volontiers si tu mets des chiffres c’est plus compréhensible et on connait mieux les specs du capteur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38ad5917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38ad5917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38ef7499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38ef7499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38ad59173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38ad5917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it convert from 1-Wire to I2C no ?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38ad5917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38ad5917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38ef7499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838ef7499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 nous manque des légende pour un peu mieux comprendre. Les numéros des modèles sont abstrait donc met plus quel type de capteur c’est avec par exemple des carrés de la couleur tel pour tel type de capteur et uniformise la couleur des lignes en fonction du type de data ou surtout met la légende car la je ne sais ce qui est quoi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4a46d7a7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4a46d7a7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 nous manque des légende pour un peu mieux comprendre. Les numéros des modèles sont abstrait donc met plus quel type de capteur c’est avec par exemple des carrés de la couleur tel pour tel type de capteur et uniformise la couleur des lignes en fonction du type de data ou surtout met la légende car la je ne sais ce qui est quoi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38ef7499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38ef7499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38ad59173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e38ad59173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38ad59173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38ad59173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38ad5917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38ad5917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38ad59173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38ad5917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38ad59173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38ad59173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same as the previous image  we have a front arm and not a full arm and this image is for nothing maybe better to just remove it. How did you estimate the 177G explain 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38ad59173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e38ad59173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38ad5917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e38ad5917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38ad5917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38ad5917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38ad59173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e38ad59173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oublie pas de prendre ta plaque avec pour la présentation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38ad5917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38ad5917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 y aurait moyen de mettre une vidéo comme ça on voit les datas bougé ou alors tu montres en vrai je ne sais pas quel est ton plan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38ad59173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38ad59173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38ad59173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38ad59173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precise quel sont tes steps restant pour ce fin de semestre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38ad59173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38ad59173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8923940117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8923940117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pulse" type="title">
  <p:cSld name="TITLE">
    <p:spTree>
      <p:nvGrpSpPr>
        <p:cNvPr id="10" name="Shape 10"/>
        <p:cNvGrpSpPr/>
        <p:nvPr/>
      </p:nvGrpSpPr>
      <p:grpSpPr>
        <a:xfrm>
          <a:off x="0" y="0"/>
          <a:ext cx="0" cy="0"/>
          <a:chOff x="0" y="0"/>
          <a:chExt cx="0" cy="0"/>
        </a:xfrm>
      </p:grpSpPr>
      <p:pic>
        <p:nvPicPr>
          <p:cNvPr id="11" name="Google Shape;11;p2" title="Group 253.png"/>
          <p:cNvPicPr preferRelativeResize="0"/>
          <p:nvPr/>
        </p:nvPicPr>
        <p:blipFill rotWithShape="1">
          <a:blip r:embed="rId2">
            <a:alphaModFix/>
          </a:blip>
          <a:srcRect b="43868" l="0" r="0" t="0"/>
          <a:stretch/>
        </p:blipFill>
        <p:spPr>
          <a:xfrm>
            <a:off x="1900625" y="1025650"/>
            <a:ext cx="5978425" cy="4117852"/>
          </a:xfrm>
          <a:prstGeom prst="rect">
            <a:avLst/>
          </a:prstGeom>
          <a:noFill/>
          <a:ln>
            <a:noFill/>
          </a:ln>
        </p:spPr>
      </p:pic>
      <p:sp>
        <p:nvSpPr>
          <p:cNvPr id="12" name="Google Shape;12;p2"/>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pic>
        <p:nvPicPr>
          <p:cNvPr id="13" name="Google Shape;13;p2" title="EPFL_Logo_184X53.png"/>
          <p:cNvPicPr preferRelativeResize="0"/>
          <p:nvPr/>
        </p:nvPicPr>
        <p:blipFill>
          <a:blip r:embed="rId3">
            <a:alphaModFix/>
          </a:blip>
          <a:stretch>
            <a:fillRect/>
          </a:stretch>
        </p:blipFill>
        <p:spPr>
          <a:xfrm>
            <a:off x="300575" y="4454338"/>
            <a:ext cx="645425" cy="187975"/>
          </a:xfrm>
          <a:prstGeom prst="rect">
            <a:avLst/>
          </a:prstGeom>
          <a:noFill/>
          <a:ln>
            <a:noFill/>
          </a:ln>
          <a:effectLst>
            <a:outerShdw blurRad="57150" rotWithShape="0" algn="bl" dir="5400000" dist="19050">
              <a:srgbClr val="000000">
                <a:alpha val="25000"/>
              </a:srgbClr>
            </a:outerShdw>
          </a:effectLst>
        </p:spPr>
      </p:pic>
      <p:sp>
        <p:nvSpPr>
          <p:cNvPr id="14" name="Google Shape;14;p2"/>
          <p:cNvSpPr/>
          <p:nvPr/>
        </p:nvSpPr>
        <p:spPr>
          <a:xfrm>
            <a:off x="8675425" y="260575"/>
            <a:ext cx="345600" cy="236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 name="Google Shape;15;p2"/>
          <p:cNvSpPr/>
          <p:nvPr/>
        </p:nvSpPr>
        <p:spPr>
          <a:xfrm>
            <a:off x="8538800" y="4479150"/>
            <a:ext cx="548700" cy="511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 name="Google Shape;16;p2"/>
          <p:cNvSpPr/>
          <p:nvPr/>
        </p:nvSpPr>
        <p:spPr>
          <a:xfrm rot="2700959">
            <a:off x="8785989" y="4168499"/>
            <a:ext cx="760493" cy="759645"/>
          </a:xfrm>
          <a:prstGeom prst="rect">
            <a:avLst/>
          </a:prstGeom>
          <a:solidFill>
            <a:srgbClr val="46A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2"/>
          <p:cNvSpPr/>
          <p:nvPr/>
        </p:nvSpPr>
        <p:spPr>
          <a:xfrm rot="2700877">
            <a:off x="8750351" y="4132437"/>
            <a:ext cx="831770" cy="831770"/>
          </a:xfrm>
          <a:prstGeom prst="rect">
            <a:avLst/>
          </a:prstGeom>
          <a:noFill/>
          <a:ln cap="flat" cmpd="sng" w="28575">
            <a:solidFill>
              <a:srgbClr val="27595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 name="Google Shape;18;p2"/>
          <p:cNvSpPr txBox="1"/>
          <p:nvPr/>
        </p:nvSpPr>
        <p:spPr>
          <a:xfrm>
            <a:off x="2085600" y="3070138"/>
            <a:ext cx="4972800" cy="503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500">
                <a:solidFill>
                  <a:schemeClr val="dk1"/>
                </a:solidFill>
                <a:latin typeface="Roboto"/>
                <a:ea typeface="Roboto"/>
                <a:cs typeface="Roboto"/>
                <a:sym typeface="Roboto"/>
              </a:rPr>
              <a:t>Open Source Non-Invasive Biomedical Technologies</a:t>
            </a:r>
            <a:endParaRPr b="1" sz="1500">
              <a:solidFill>
                <a:schemeClr val="dk1"/>
              </a:solidFill>
              <a:latin typeface="Roboto"/>
              <a:ea typeface="Roboto"/>
              <a:cs typeface="Roboto"/>
              <a:sym typeface="Roboto"/>
            </a:endParaRPr>
          </a:p>
        </p:txBody>
      </p:sp>
      <p:pic>
        <p:nvPicPr>
          <p:cNvPr id="19" name="Google Shape;19;p2"/>
          <p:cNvPicPr preferRelativeResize="0"/>
          <p:nvPr/>
        </p:nvPicPr>
        <p:blipFill>
          <a:blip r:embed="rId4">
            <a:alphaModFix/>
          </a:blip>
          <a:stretch>
            <a:fillRect/>
          </a:stretch>
        </p:blipFill>
        <p:spPr>
          <a:xfrm>
            <a:off x="2288925" y="1145426"/>
            <a:ext cx="4566150" cy="1768900"/>
          </a:xfrm>
          <a:prstGeom prst="rect">
            <a:avLst/>
          </a:prstGeom>
          <a:noFill/>
          <a:ln>
            <a:noFill/>
          </a:ln>
          <a:effectLst>
            <a:outerShdw blurRad="57150" rotWithShape="0" algn="bl" dir="5400000" dist="19050">
              <a:srgbClr val="000000">
                <a:alpha val="50000"/>
              </a:srgbClr>
            </a:outerShdw>
          </a:effectLst>
        </p:spPr>
      </p:pic>
      <p:sp>
        <p:nvSpPr>
          <p:cNvPr id="20" name="Google Shape;20;p2"/>
          <p:cNvSpPr txBox="1"/>
          <p:nvPr>
            <p:ph type="title"/>
          </p:nvPr>
        </p:nvSpPr>
        <p:spPr>
          <a:xfrm>
            <a:off x="2562150" y="4296775"/>
            <a:ext cx="4019700" cy="503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400"/>
              <a:buFont typeface="Roboto ExtraBold"/>
              <a:buNone/>
              <a:defRPr sz="1400">
                <a:solidFill>
                  <a:schemeClr val="accent3"/>
                </a:solidFill>
                <a:latin typeface="Roboto ExtraBold"/>
                <a:ea typeface="Roboto ExtraBold"/>
                <a:cs typeface="Roboto ExtraBold"/>
                <a:sym typeface="Roboto ExtraBold"/>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2D3332"/>
              </a:buClr>
              <a:buSzPts val="3400"/>
              <a:buFont typeface="Roboto"/>
              <a:buNone/>
              <a:defRPr>
                <a:solidFill>
                  <a:srgbClr val="2D3332"/>
                </a:solidFill>
                <a:latin typeface="Roboto"/>
                <a:ea typeface="Roboto"/>
                <a:cs typeface="Roboto"/>
                <a:sym typeface="Roboto"/>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23" name="Google Shape;23;p3"/>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324000" y="432000"/>
            <a:ext cx="8520600" cy="831300"/>
          </a:xfrm>
          <a:prstGeom prst="rect">
            <a:avLst/>
          </a:prstGeom>
        </p:spPr>
        <p:txBody>
          <a:bodyPr anchorCtr="0" anchor="b" bIns="91425" lIns="91425" spcFirstLastPara="1" rIns="91425" wrap="square" tIns="91425">
            <a:spAutoFit/>
          </a:bodyPr>
          <a:lstStyle>
            <a:lvl1pPr lvl="0">
              <a:spcBef>
                <a:spcPts val="0"/>
              </a:spcBef>
              <a:spcAft>
                <a:spcPts val="0"/>
              </a:spcAft>
              <a:buClr>
                <a:schemeClr val="accent1"/>
              </a:buClr>
              <a:buSzPts val="3000"/>
              <a:buFont typeface="Roboto"/>
              <a:buNone/>
              <a:defRPr sz="3000">
                <a:solidFill>
                  <a:schemeClr val="accent1"/>
                </a:solidFill>
                <a:latin typeface="Roboto"/>
                <a:ea typeface="Roboto"/>
                <a:cs typeface="Roboto"/>
                <a:sym typeface="Roboto"/>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6" name="Google Shape;26;p4"/>
          <p:cNvSpPr txBox="1"/>
          <p:nvPr>
            <p:ph idx="1" type="body"/>
          </p:nvPr>
        </p:nvSpPr>
        <p:spPr>
          <a:xfrm>
            <a:off x="288000" y="1440000"/>
            <a:ext cx="8520600" cy="3145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17500" lvl="1" marL="914400">
              <a:spcBef>
                <a:spcPts val="0"/>
              </a:spcBef>
              <a:spcAft>
                <a:spcPts val="0"/>
              </a:spcAft>
              <a:buSzPts val="1400"/>
              <a:buFont typeface="Roboto"/>
              <a:buChar char="○"/>
              <a:defRPr>
                <a:latin typeface="Roboto"/>
                <a:ea typeface="Roboto"/>
                <a:cs typeface="Roboto"/>
                <a:sym typeface="Roboto"/>
              </a:defRPr>
            </a:lvl2pPr>
            <a:lvl3pPr indent="-317500" lvl="2" marL="1371600">
              <a:spcBef>
                <a:spcPts val="0"/>
              </a:spcBef>
              <a:spcAft>
                <a:spcPts val="0"/>
              </a:spcAft>
              <a:buSzPts val="1400"/>
              <a:buFont typeface="Roboto"/>
              <a:buChar char="■"/>
              <a:defRPr>
                <a:latin typeface="Roboto"/>
                <a:ea typeface="Roboto"/>
                <a:cs typeface="Roboto"/>
                <a:sym typeface="Roboto"/>
              </a:defRPr>
            </a:lvl3pPr>
            <a:lvl4pPr indent="-317500" lvl="3" marL="1828800">
              <a:spcBef>
                <a:spcPts val="0"/>
              </a:spcBef>
              <a:spcAft>
                <a:spcPts val="0"/>
              </a:spcAft>
              <a:buSzPts val="1400"/>
              <a:buFont typeface="Roboto"/>
              <a:buChar char="●"/>
              <a:defRPr>
                <a:latin typeface="Roboto"/>
                <a:ea typeface="Roboto"/>
                <a:cs typeface="Roboto"/>
                <a:sym typeface="Roboto"/>
              </a:defRPr>
            </a:lvl4pPr>
            <a:lvl5pPr indent="-317500" lvl="4" marL="2286000">
              <a:spcBef>
                <a:spcPts val="0"/>
              </a:spcBef>
              <a:spcAft>
                <a:spcPts val="0"/>
              </a:spcAft>
              <a:buSzPts val="1400"/>
              <a:buFont typeface="Roboto"/>
              <a:buChar char="○"/>
              <a:defRPr>
                <a:latin typeface="Roboto"/>
                <a:ea typeface="Roboto"/>
                <a:cs typeface="Roboto"/>
                <a:sym typeface="Roboto"/>
              </a:defRPr>
            </a:lvl5pPr>
            <a:lvl6pPr indent="-317500" lvl="5" marL="2743200">
              <a:spcBef>
                <a:spcPts val="0"/>
              </a:spcBef>
              <a:spcAft>
                <a:spcPts val="0"/>
              </a:spcAft>
              <a:buSzPts val="1400"/>
              <a:buFont typeface="Roboto"/>
              <a:buChar char="■"/>
              <a:defRPr>
                <a:latin typeface="Roboto"/>
                <a:ea typeface="Roboto"/>
                <a:cs typeface="Roboto"/>
                <a:sym typeface="Roboto"/>
              </a:defRPr>
            </a:lvl6pPr>
            <a:lvl7pPr indent="-317500" lvl="6" marL="3200400">
              <a:spcBef>
                <a:spcPts val="0"/>
              </a:spcBef>
              <a:spcAft>
                <a:spcPts val="0"/>
              </a:spcAft>
              <a:buSzPts val="1400"/>
              <a:buFont typeface="Roboto"/>
              <a:buChar char="●"/>
              <a:defRPr>
                <a:latin typeface="Roboto"/>
                <a:ea typeface="Roboto"/>
                <a:cs typeface="Roboto"/>
                <a:sym typeface="Roboto"/>
              </a:defRPr>
            </a:lvl7pPr>
            <a:lvl8pPr indent="-317500" lvl="7" marL="3657600">
              <a:spcBef>
                <a:spcPts val="0"/>
              </a:spcBef>
              <a:spcAft>
                <a:spcPts val="0"/>
              </a:spcAft>
              <a:buSzPts val="1400"/>
              <a:buFont typeface="Roboto"/>
              <a:buChar char="○"/>
              <a:defRPr>
                <a:latin typeface="Roboto"/>
                <a:ea typeface="Roboto"/>
                <a:cs typeface="Roboto"/>
                <a:sym typeface="Roboto"/>
              </a:defRPr>
            </a:lvl8pPr>
            <a:lvl9pPr indent="-317500" lvl="8" marL="4114800">
              <a:spcBef>
                <a:spcPts val="0"/>
              </a:spcBef>
              <a:spcAft>
                <a:spcPts val="0"/>
              </a:spcAft>
              <a:buSzPts val="1400"/>
              <a:buFont typeface="Roboto"/>
              <a:buChar char="■"/>
              <a:defRPr>
                <a:latin typeface="Roboto"/>
                <a:ea typeface="Roboto"/>
                <a:cs typeface="Roboto"/>
                <a:sym typeface="Roboto"/>
              </a:defRPr>
            </a:lvl9pPr>
          </a:lstStyle>
          <a:p/>
        </p:txBody>
      </p:sp>
      <p:sp>
        <p:nvSpPr>
          <p:cNvPr id="27" name="Google Shape;27;p4"/>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idx="1" type="body"/>
          </p:nvPr>
        </p:nvSpPr>
        <p:spPr>
          <a:xfrm>
            <a:off x="288000" y="1440000"/>
            <a:ext cx="3999900" cy="2754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Roboto"/>
              <a:buChar char="●"/>
              <a:defRPr sz="1400">
                <a:latin typeface="Roboto"/>
                <a:ea typeface="Roboto"/>
                <a:cs typeface="Roboto"/>
                <a:sym typeface="Roboto"/>
              </a:defRPr>
            </a:lvl1pPr>
            <a:lvl2pPr indent="-304800" lvl="1" marL="914400">
              <a:spcBef>
                <a:spcPts val="0"/>
              </a:spcBef>
              <a:spcAft>
                <a:spcPts val="0"/>
              </a:spcAft>
              <a:buSzPts val="1200"/>
              <a:buFont typeface="Roboto"/>
              <a:buChar char="○"/>
              <a:defRPr sz="1200">
                <a:latin typeface="Roboto"/>
                <a:ea typeface="Roboto"/>
                <a:cs typeface="Roboto"/>
                <a:sym typeface="Roboto"/>
              </a:defRPr>
            </a:lvl2pPr>
            <a:lvl3pPr indent="-304800" lvl="2" marL="1371600">
              <a:spcBef>
                <a:spcPts val="0"/>
              </a:spcBef>
              <a:spcAft>
                <a:spcPts val="0"/>
              </a:spcAft>
              <a:buSzPts val="1200"/>
              <a:buFont typeface="Roboto"/>
              <a:buChar char="■"/>
              <a:defRPr sz="1200">
                <a:latin typeface="Roboto"/>
                <a:ea typeface="Roboto"/>
                <a:cs typeface="Roboto"/>
                <a:sym typeface="Roboto"/>
              </a:defRPr>
            </a:lvl3pPr>
            <a:lvl4pPr indent="-304800" lvl="3" marL="1828800">
              <a:spcBef>
                <a:spcPts val="0"/>
              </a:spcBef>
              <a:spcAft>
                <a:spcPts val="0"/>
              </a:spcAft>
              <a:buSzPts val="1200"/>
              <a:buFont typeface="Roboto"/>
              <a:buChar char="●"/>
              <a:defRPr sz="1200">
                <a:latin typeface="Roboto"/>
                <a:ea typeface="Roboto"/>
                <a:cs typeface="Roboto"/>
                <a:sym typeface="Roboto"/>
              </a:defRPr>
            </a:lvl4pPr>
            <a:lvl5pPr indent="-304800" lvl="4" marL="2286000">
              <a:spcBef>
                <a:spcPts val="0"/>
              </a:spcBef>
              <a:spcAft>
                <a:spcPts val="0"/>
              </a:spcAft>
              <a:buSzPts val="1200"/>
              <a:buFont typeface="Roboto"/>
              <a:buChar char="○"/>
              <a:defRPr sz="1200">
                <a:latin typeface="Roboto"/>
                <a:ea typeface="Roboto"/>
                <a:cs typeface="Roboto"/>
                <a:sym typeface="Roboto"/>
              </a:defRPr>
            </a:lvl5pPr>
            <a:lvl6pPr indent="-304800" lvl="5" marL="2743200">
              <a:spcBef>
                <a:spcPts val="0"/>
              </a:spcBef>
              <a:spcAft>
                <a:spcPts val="0"/>
              </a:spcAft>
              <a:buSzPts val="1200"/>
              <a:buFont typeface="Roboto"/>
              <a:buChar char="■"/>
              <a:defRPr sz="1200">
                <a:latin typeface="Roboto"/>
                <a:ea typeface="Roboto"/>
                <a:cs typeface="Roboto"/>
                <a:sym typeface="Roboto"/>
              </a:defRPr>
            </a:lvl6pPr>
            <a:lvl7pPr indent="-304800" lvl="6" marL="3200400">
              <a:spcBef>
                <a:spcPts val="0"/>
              </a:spcBef>
              <a:spcAft>
                <a:spcPts val="0"/>
              </a:spcAft>
              <a:buSzPts val="1200"/>
              <a:buFont typeface="Roboto"/>
              <a:buChar char="●"/>
              <a:defRPr sz="1200">
                <a:latin typeface="Roboto"/>
                <a:ea typeface="Roboto"/>
                <a:cs typeface="Roboto"/>
                <a:sym typeface="Roboto"/>
              </a:defRPr>
            </a:lvl7pPr>
            <a:lvl8pPr indent="-304800" lvl="7" marL="3657600">
              <a:spcBef>
                <a:spcPts val="0"/>
              </a:spcBef>
              <a:spcAft>
                <a:spcPts val="0"/>
              </a:spcAft>
              <a:buSzPts val="1200"/>
              <a:buFont typeface="Roboto"/>
              <a:buChar char="○"/>
              <a:defRPr sz="1200">
                <a:latin typeface="Roboto"/>
                <a:ea typeface="Roboto"/>
                <a:cs typeface="Roboto"/>
                <a:sym typeface="Roboto"/>
              </a:defRPr>
            </a:lvl8pPr>
            <a:lvl9pPr indent="-304800" lvl="8" marL="4114800">
              <a:spcBef>
                <a:spcPts val="0"/>
              </a:spcBef>
              <a:spcAft>
                <a:spcPts val="0"/>
              </a:spcAft>
              <a:buSzPts val="1200"/>
              <a:buFont typeface="Roboto"/>
              <a:buChar char="■"/>
              <a:defRPr sz="1200">
                <a:latin typeface="Roboto"/>
                <a:ea typeface="Roboto"/>
                <a:cs typeface="Roboto"/>
                <a:sym typeface="Roboto"/>
              </a:defRPr>
            </a:lvl9pPr>
          </a:lstStyle>
          <a:p/>
        </p:txBody>
      </p:sp>
      <p:sp>
        <p:nvSpPr>
          <p:cNvPr id="30" name="Google Shape;30;p5"/>
          <p:cNvSpPr txBox="1"/>
          <p:nvPr>
            <p:ph idx="2" type="body"/>
          </p:nvPr>
        </p:nvSpPr>
        <p:spPr>
          <a:xfrm>
            <a:off x="4844700" y="1440000"/>
            <a:ext cx="3999900" cy="2754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Roboto"/>
              <a:buChar char="●"/>
              <a:defRPr sz="1400">
                <a:latin typeface="Roboto"/>
                <a:ea typeface="Roboto"/>
                <a:cs typeface="Roboto"/>
                <a:sym typeface="Roboto"/>
              </a:defRPr>
            </a:lvl1pPr>
            <a:lvl2pPr indent="-304800" lvl="1" marL="914400">
              <a:spcBef>
                <a:spcPts val="0"/>
              </a:spcBef>
              <a:spcAft>
                <a:spcPts val="0"/>
              </a:spcAft>
              <a:buSzPts val="1200"/>
              <a:buFont typeface="Roboto"/>
              <a:buChar char="○"/>
              <a:defRPr sz="1200">
                <a:latin typeface="Roboto"/>
                <a:ea typeface="Roboto"/>
                <a:cs typeface="Roboto"/>
                <a:sym typeface="Roboto"/>
              </a:defRPr>
            </a:lvl2pPr>
            <a:lvl3pPr indent="-304800" lvl="2" marL="1371600">
              <a:spcBef>
                <a:spcPts val="0"/>
              </a:spcBef>
              <a:spcAft>
                <a:spcPts val="0"/>
              </a:spcAft>
              <a:buSzPts val="1200"/>
              <a:buFont typeface="Roboto"/>
              <a:buChar char="■"/>
              <a:defRPr sz="1200">
                <a:latin typeface="Roboto"/>
                <a:ea typeface="Roboto"/>
                <a:cs typeface="Roboto"/>
                <a:sym typeface="Roboto"/>
              </a:defRPr>
            </a:lvl3pPr>
            <a:lvl4pPr indent="-304800" lvl="3" marL="1828800">
              <a:spcBef>
                <a:spcPts val="0"/>
              </a:spcBef>
              <a:spcAft>
                <a:spcPts val="0"/>
              </a:spcAft>
              <a:buSzPts val="1200"/>
              <a:buFont typeface="Roboto"/>
              <a:buChar char="●"/>
              <a:defRPr sz="1200">
                <a:latin typeface="Roboto"/>
                <a:ea typeface="Roboto"/>
                <a:cs typeface="Roboto"/>
                <a:sym typeface="Roboto"/>
              </a:defRPr>
            </a:lvl4pPr>
            <a:lvl5pPr indent="-304800" lvl="4" marL="2286000">
              <a:spcBef>
                <a:spcPts val="0"/>
              </a:spcBef>
              <a:spcAft>
                <a:spcPts val="0"/>
              </a:spcAft>
              <a:buSzPts val="1200"/>
              <a:buFont typeface="Roboto"/>
              <a:buChar char="○"/>
              <a:defRPr sz="1200">
                <a:latin typeface="Roboto"/>
                <a:ea typeface="Roboto"/>
                <a:cs typeface="Roboto"/>
                <a:sym typeface="Roboto"/>
              </a:defRPr>
            </a:lvl5pPr>
            <a:lvl6pPr indent="-304800" lvl="5" marL="2743200">
              <a:spcBef>
                <a:spcPts val="0"/>
              </a:spcBef>
              <a:spcAft>
                <a:spcPts val="0"/>
              </a:spcAft>
              <a:buSzPts val="1200"/>
              <a:buFont typeface="Roboto"/>
              <a:buChar char="■"/>
              <a:defRPr sz="1200">
                <a:latin typeface="Roboto"/>
                <a:ea typeface="Roboto"/>
                <a:cs typeface="Roboto"/>
                <a:sym typeface="Roboto"/>
              </a:defRPr>
            </a:lvl6pPr>
            <a:lvl7pPr indent="-304800" lvl="6" marL="3200400">
              <a:spcBef>
                <a:spcPts val="0"/>
              </a:spcBef>
              <a:spcAft>
                <a:spcPts val="0"/>
              </a:spcAft>
              <a:buSzPts val="1200"/>
              <a:buFont typeface="Roboto"/>
              <a:buChar char="●"/>
              <a:defRPr sz="1200">
                <a:latin typeface="Roboto"/>
                <a:ea typeface="Roboto"/>
                <a:cs typeface="Roboto"/>
                <a:sym typeface="Roboto"/>
              </a:defRPr>
            </a:lvl7pPr>
            <a:lvl8pPr indent="-304800" lvl="7" marL="3657600">
              <a:spcBef>
                <a:spcPts val="0"/>
              </a:spcBef>
              <a:spcAft>
                <a:spcPts val="0"/>
              </a:spcAft>
              <a:buSzPts val="1200"/>
              <a:buFont typeface="Roboto"/>
              <a:buChar char="○"/>
              <a:defRPr sz="1200">
                <a:latin typeface="Roboto"/>
                <a:ea typeface="Roboto"/>
                <a:cs typeface="Roboto"/>
                <a:sym typeface="Roboto"/>
              </a:defRPr>
            </a:lvl8pPr>
            <a:lvl9pPr indent="-304800" lvl="8" marL="4114800">
              <a:spcBef>
                <a:spcPts val="0"/>
              </a:spcBef>
              <a:spcAft>
                <a:spcPts val="0"/>
              </a:spcAft>
              <a:buSzPts val="1200"/>
              <a:buFont typeface="Roboto"/>
              <a:buChar char="■"/>
              <a:defRPr sz="1200">
                <a:latin typeface="Roboto"/>
                <a:ea typeface="Roboto"/>
                <a:cs typeface="Roboto"/>
                <a:sym typeface="Roboto"/>
              </a:defRPr>
            </a:lvl9pPr>
          </a:lstStyle>
          <a:p/>
        </p:txBody>
      </p:sp>
      <p:sp>
        <p:nvSpPr>
          <p:cNvPr id="31" name="Google Shape;31;p5"/>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2" name="Google Shape;32;p5"/>
          <p:cNvSpPr txBox="1"/>
          <p:nvPr>
            <p:ph type="title"/>
          </p:nvPr>
        </p:nvSpPr>
        <p:spPr>
          <a:xfrm>
            <a:off x="324000" y="432000"/>
            <a:ext cx="8520600" cy="831300"/>
          </a:xfrm>
          <a:prstGeom prst="rect">
            <a:avLst/>
          </a:prstGeom>
        </p:spPr>
        <p:txBody>
          <a:bodyPr anchorCtr="0" anchor="b" bIns="91425" lIns="91425" spcFirstLastPara="1" rIns="91425" wrap="square" tIns="91425">
            <a:spAutoFit/>
          </a:bodyPr>
          <a:lstStyle>
            <a:lvl1pPr lvl="0">
              <a:spcBef>
                <a:spcPts val="0"/>
              </a:spcBef>
              <a:spcAft>
                <a:spcPts val="0"/>
              </a:spcAft>
              <a:buSzPts val="3000"/>
              <a:buFont typeface="Roboto"/>
              <a:buNone/>
              <a:defRPr sz="3000">
                <a:latin typeface="Roboto"/>
                <a:ea typeface="Roboto"/>
                <a:cs typeface="Roboto"/>
                <a:sym typeface="Roboto"/>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5" name="Google Shape;35;p6"/>
          <p:cNvSpPr txBox="1"/>
          <p:nvPr>
            <p:ph type="title"/>
          </p:nvPr>
        </p:nvSpPr>
        <p:spPr>
          <a:xfrm>
            <a:off x="324000" y="432000"/>
            <a:ext cx="8520600" cy="831300"/>
          </a:xfrm>
          <a:prstGeom prst="rect">
            <a:avLst/>
          </a:prstGeom>
        </p:spPr>
        <p:txBody>
          <a:bodyPr anchorCtr="0" anchor="b" bIns="91425" lIns="91425" spcFirstLastPara="1" rIns="91425" wrap="square" tIns="91425">
            <a:spAutoFit/>
          </a:bodyPr>
          <a:lstStyle>
            <a:lvl1pPr lvl="0">
              <a:spcBef>
                <a:spcPts val="0"/>
              </a:spcBef>
              <a:spcAft>
                <a:spcPts val="0"/>
              </a:spcAft>
              <a:buSzPts val="3000"/>
              <a:buFont typeface="Roboto"/>
              <a:buNone/>
              <a:defRPr sz="3000">
                <a:latin typeface="Roboto"/>
                <a:ea typeface="Roboto"/>
                <a:cs typeface="Roboto"/>
                <a:sym typeface="Roboto"/>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idx="1" type="body"/>
          </p:nvPr>
        </p:nvSpPr>
        <p:spPr>
          <a:xfrm>
            <a:off x="288000" y="1440000"/>
            <a:ext cx="2808000" cy="27849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Font typeface="Roboto"/>
              <a:buChar char="●"/>
              <a:defRPr sz="1100">
                <a:latin typeface="Roboto"/>
                <a:ea typeface="Roboto"/>
                <a:cs typeface="Roboto"/>
                <a:sym typeface="Roboto"/>
              </a:defRPr>
            </a:lvl1pPr>
            <a:lvl2pPr indent="-298450" lvl="1" marL="914400">
              <a:spcBef>
                <a:spcPts val="0"/>
              </a:spcBef>
              <a:spcAft>
                <a:spcPts val="0"/>
              </a:spcAft>
              <a:buSzPts val="1100"/>
              <a:buFont typeface="Roboto"/>
              <a:buChar char="○"/>
              <a:defRPr sz="1100">
                <a:latin typeface="Roboto"/>
                <a:ea typeface="Roboto"/>
                <a:cs typeface="Roboto"/>
                <a:sym typeface="Roboto"/>
              </a:defRPr>
            </a:lvl2pPr>
            <a:lvl3pPr indent="-298450" lvl="2" marL="1371600">
              <a:spcBef>
                <a:spcPts val="0"/>
              </a:spcBef>
              <a:spcAft>
                <a:spcPts val="0"/>
              </a:spcAft>
              <a:buSzPts val="1100"/>
              <a:buFont typeface="Roboto"/>
              <a:buChar char="■"/>
              <a:defRPr sz="1100">
                <a:latin typeface="Roboto"/>
                <a:ea typeface="Roboto"/>
                <a:cs typeface="Roboto"/>
                <a:sym typeface="Roboto"/>
              </a:defRPr>
            </a:lvl3pPr>
            <a:lvl4pPr indent="-298450" lvl="3" marL="1828800">
              <a:spcBef>
                <a:spcPts val="0"/>
              </a:spcBef>
              <a:spcAft>
                <a:spcPts val="0"/>
              </a:spcAft>
              <a:buSzPts val="1100"/>
              <a:buFont typeface="Roboto"/>
              <a:buChar char="●"/>
              <a:defRPr sz="1100">
                <a:latin typeface="Roboto"/>
                <a:ea typeface="Roboto"/>
                <a:cs typeface="Roboto"/>
                <a:sym typeface="Roboto"/>
              </a:defRPr>
            </a:lvl4pPr>
            <a:lvl5pPr indent="-298450" lvl="4" marL="2286000">
              <a:spcBef>
                <a:spcPts val="0"/>
              </a:spcBef>
              <a:spcAft>
                <a:spcPts val="0"/>
              </a:spcAft>
              <a:buSzPts val="1100"/>
              <a:buFont typeface="Roboto"/>
              <a:buChar char="○"/>
              <a:defRPr sz="1100">
                <a:latin typeface="Roboto"/>
                <a:ea typeface="Roboto"/>
                <a:cs typeface="Roboto"/>
                <a:sym typeface="Roboto"/>
              </a:defRPr>
            </a:lvl5pPr>
            <a:lvl6pPr indent="-298450" lvl="5" marL="2743200">
              <a:spcBef>
                <a:spcPts val="0"/>
              </a:spcBef>
              <a:spcAft>
                <a:spcPts val="0"/>
              </a:spcAft>
              <a:buSzPts val="1100"/>
              <a:buFont typeface="Roboto"/>
              <a:buChar char="■"/>
              <a:defRPr sz="1100">
                <a:latin typeface="Roboto"/>
                <a:ea typeface="Roboto"/>
                <a:cs typeface="Roboto"/>
                <a:sym typeface="Roboto"/>
              </a:defRPr>
            </a:lvl6pPr>
            <a:lvl7pPr indent="-298450" lvl="6" marL="3200400">
              <a:spcBef>
                <a:spcPts val="0"/>
              </a:spcBef>
              <a:spcAft>
                <a:spcPts val="0"/>
              </a:spcAft>
              <a:buSzPts val="1100"/>
              <a:buFont typeface="Roboto"/>
              <a:buChar char="●"/>
              <a:defRPr sz="1100">
                <a:latin typeface="Roboto"/>
                <a:ea typeface="Roboto"/>
                <a:cs typeface="Roboto"/>
                <a:sym typeface="Roboto"/>
              </a:defRPr>
            </a:lvl7pPr>
            <a:lvl8pPr indent="-298450" lvl="7" marL="3657600">
              <a:spcBef>
                <a:spcPts val="0"/>
              </a:spcBef>
              <a:spcAft>
                <a:spcPts val="0"/>
              </a:spcAft>
              <a:buSzPts val="1100"/>
              <a:buFont typeface="Roboto"/>
              <a:buChar char="○"/>
              <a:defRPr sz="1100">
                <a:latin typeface="Roboto"/>
                <a:ea typeface="Roboto"/>
                <a:cs typeface="Roboto"/>
                <a:sym typeface="Roboto"/>
              </a:defRPr>
            </a:lvl8pPr>
            <a:lvl9pPr indent="-298450" lvl="8" marL="4114800">
              <a:spcBef>
                <a:spcPts val="0"/>
              </a:spcBef>
              <a:spcAft>
                <a:spcPts val="0"/>
              </a:spcAft>
              <a:buSzPts val="1100"/>
              <a:buFont typeface="Roboto"/>
              <a:buChar char="■"/>
              <a:defRPr sz="1100">
                <a:latin typeface="Roboto"/>
                <a:ea typeface="Roboto"/>
                <a:cs typeface="Roboto"/>
                <a:sym typeface="Roboto"/>
              </a:defRPr>
            </a:lvl9pPr>
          </a:lstStyle>
          <a:p/>
        </p:txBody>
      </p:sp>
      <p:sp>
        <p:nvSpPr>
          <p:cNvPr id="38" name="Google Shape;38;p7"/>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9" name="Google Shape;39;p7"/>
          <p:cNvSpPr txBox="1"/>
          <p:nvPr>
            <p:ph type="title"/>
          </p:nvPr>
        </p:nvSpPr>
        <p:spPr>
          <a:xfrm>
            <a:off x="324000" y="432000"/>
            <a:ext cx="8520600" cy="831300"/>
          </a:xfrm>
          <a:prstGeom prst="rect">
            <a:avLst/>
          </a:prstGeom>
        </p:spPr>
        <p:txBody>
          <a:bodyPr anchorCtr="0" anchor="b" bIns="91425" lIns="91425" spcFirstLastPara="1" rIns="91425" wrap="square" tIns="91425">
            <a:spAutoFit/>
          </a:bodyPr>
          <a:lstStyle>
            <a:lvl1pPr lvl="0">
              <a:spcBef>
                <a:spcPts val="0"/>
              </a:spcBef>
              <a:spcAft>
                <a:spcPts val="0"/>
              </a:spcAft>
              <a:buSzPts val="3000"/>
              <a:buFont typeface="Roboto"/>
              <a:buNone/>
              <a:defRPr sz="3000">
                <a:latin typeface="Roboto"/>
                <a:ea typeface="Roboto"/>
                <a:cs typeface="Roboto"/>
                <a:sym typeface="Roboto"/>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40" name="Shape 40"/>
        <p:cNvGrpSpPr/>
        <p:nvPr/>
      </p:nvGrpSpPr>
      <p:grpSpPr>
        <a:xfrm>
          <a:off x="0" y="0"/>
          <a:ext cx="0" cy="0"/>
          <a:chOff x="0" y="0"/>
          <a:chExt cx="0" cy="0"/>
        </a:xfrm>
      </p:grpSpPr>
      <p:sp>
        <p:nvSpPr>
          <p:cNvPr id="41" name="Google Shape;41;p8"/>
          <p:cNvSpPr txBox="1"/>
          <p:nvPr>
            <p:ph type="title"/>
          </p:nvPr>
        </p:nvSpPr>
        <p:spPr>
          <a:xfrm>
            <a:off x="473550" y="526350"/>
            <a:ext cx="8196900" cy="4090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Roboto"/>
              <a:buNone/>
              <a:defRPr sz="4800">
                <a:solidFill>
                  <a:schemeClr val="lt1"/>
                </a:solidFill>
                <a:latin typeface="Roboto"/>
                <a:ea typeface="Roboto"/>
                <a:cs typeface="Roboto"/>
                <a:sym typeface="Robo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2" name="Google Shape;42;p8"/>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p:nvPr/>
        </p:nvSpPr>
        <p:spPr>
          <a:xfrm>
            <a:off x="4572000" y="-25"/>
            <a:ext cx="4572000" cy="5143500"/>
          </a:xfrm>
          <a:prstGeom prst="rect">
            <a:avLst/>
          </a:prstGeom>
          <a:solidFill>
            <a:srgbClr val="45A8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265500" y="905750"/>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accent1"/>
              </a:buClr>
              <a:buSzPts val="3600"/>
              <a:buFont typeface="Roboto"/>
              <a:buNone/>
              <a:defRPr sz="3600">
                <a:solidFill>
                  <a:schemeClr val="accent1"/>
                </a:solidFill>
                <a:latin typeface="Roboto"/>
                <a:ea typeface="Roboto"/>
                <a:cs typeface="Roboto"/>
                <a:sym typeface="Roboto"/>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6" name="Google Shape;46;p9"/>
          <p:cNvSpPr txBox="1"/>
          <p:nvPr>
            <p:ph idx="1" type="subTitle"/>
          </p:nvPr>
        </p:nvSpPr>
        <p:spPr>
          <a:xfrm>
            <a:off x="265500" y="2774751"/>
            <a:ext cx="4045200" cy="15741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2400"/>
              <a:buFont typeface="Roboto"/>
              <a:buNone/>
              <a:defRPr sz="2400">
                <a:latin typeface="Roboto"/>
                <a:ea typeface="Roboto"/>
                <a:cs typeface="Roboto"/>
                <a:sym typeface="Roboto"/>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Roboto"/>
              <a:buChar char="●"/>
              <a:defRPr>
                <a:solidFill>
                  <a:schemeClr val="lt1"/>
                </a:solidFill>
                <a:latin typeface="Roboto"/>
                <a:ea typeface="Roboto"/>
                <a:cs typeface="Roboto"/>
                <a:sym typeface="Roboto"/>
              </a:defRPr>
            </a:lvl1pPr>
            <a:lvl2pPr indent="-317500" lvl="1" marL="9144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2pPr>
            <a:lvl3pPr indent="-317500" lvl="2" marL="13716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3pPr>
            <a:lvl4pPr indent="-317500" lvl="3" marL="18288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4pPr>
            <a:lvl5pPr indent="-317500" lvl="4" marL="22860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5pPr>
            <a:lvl6pPr indent="-317500" lvl="5" marL="27432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6pPr>
            <a:lvl7pPr indent="-317500" lvl="6" marL="32004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7pPr>
            <a:lvl8pPr indent="-317500" lvl="7" marL="36576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8pPr>
            <a:lvl9pPr indent="-317500" lvl="8" marL="4114800">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9pPr>
          </a:lstStyle>
          <a:p/>
        </p:txBody>
      </p:sp>
      <p:sp>
        <p:nvSpPr>
          <p:cNvPr id="48" name="Google Shape;48;p9"/>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240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Roboto"/>
              <a:buNone/>
              <a:defRPr sz="2400">
                <a:latin typeface="Roboto"/>
                <a:ea typeface="Roboto"/>
                <a:cs typeface="Roboto"/>
                <a:sym typeface="Roboto"/>
              </a:defRPr>
            </a:lvl1pPr>
          </a:lstStyle>
          <a:p/>
        </p:txBody>
      </p:sp>
      <p:sp>
        <p:nvSpPr>
          <p:cNvPr id="51" name="Google Shape;51;p10"/>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e en page personnalisée 1">
  <p:cSld name="CUSTOM">
    <p:spTree>
      <p:nvGrpSpPr>
        <p:cNvPr id="52" name="Shape 52"/>
        <p:cNvGrpSpPr/>
        <p:nvPr/>
      </p:nvGrpSpPr>
      <p:grpSpPr>
        <a:xfrm>
          <a:off x="0" y="0"/>
          <a:ext cx="0" cy="0"/>
          <a:chOff x="0" y="0"/>
          <a:chExt cx="0" cy="0"/>
        </a:xfrm>
      </p:grpSpPr>
      <p:sp>
        <p:nvSpPr>
          <p:cNvPr id="53" name="Google Shape;53;p11"/>
          <p:cNvSpPr txBox="1"/>
          <p:nvPr>
            <p:ph type="title"/>
          </p:nvPr>
        </p:nvSpPr>
        <p:spPr>
          <a:xfrm>
            <a:off x="2783600" y="802600"/>
            <a:ext cx="6139500" cy="33825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pic>
        <p:nvPicPr>
          <p:cNvPr id="54" name="Google Shape;54;p11" title="Group 253.png"/>
          <p:cNvPicPr preferRelativeResize="0"/>
          <p:nvPr/>
        </p:nvPicPr>
        <p:blipFill>
          <a:blip r:embed="rId2">
            <a:alphaModFix/>
          </a:blip>
          <a:stretch>
            <a:fillRect/>
          </a:stretch>
        </p:blipFill>
        <p:spPr>
          <a:xfrm>
            <a:off x="317647" y="1341575"/>
            <a:ext cx="2005024" cy="2460349"/>
          </a:xfrm>
          <a:prstGeom prst="rect">
            <a:avLst/>
          </a:prstGeom>
          <a:noFill/>
          <a:ln>
            <a:noFill/>
          </a:ln>
        </p:spPr>
      </p:pic>
      <p:sp>
        <p:nvSpPr>
          <p:cNvPr id="55" name="Google Shape;55;p1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atin typeface="Roboto"/>
                <a:ea typeface="Roboto"/>
                <a:cs typeface="Roboto"/>
                <a:sym typeface="Roboto"/>
              </a:defRPr>
            </a:lvl1pPr>
            <a:lvl2pPr lvl="1">
              <a:buNone/>
              <a:defRPr sz="1300">
                <a:latin typeface="Roboto"/>
                <a:ea typeface="Roboto"/>
                <a:cs typeface="Roboto"/>
                <a:sym typeface="Roboto"/>
              </a:defRPr>
            </a:lvl2pPr>
            <a:lvl3pPr lvl="2">
              <a:buNone/>
              <a:defRPr sz="1300">
                <a:latin typeface="Roboto"/>
                <a:ea typeface="Roboto"/>
                <a:cs typeface="Roboto"/>
                <a:sym typeface="Roboto"/>
              </a:defRPr>
            </a:lvl3pPr>
            <a:lvl4pPr lvl="3">
              <a:buNone/>
              <a:defRPr sz="1300">
                <a:latin typeface="Roboto"/>
                <a:ea typeface="Roboto"/>
                <a:cs typeface="Roboto"/>
                <a:sym typeface="Roboto"/>
              </a:defRPr>
            </a:lvl4pPr>
            <a:lvl5pPr lvl="4">
              <a:buNone/>
              <a:defRPr sz="1300">
                <a:latin typeface="Roboto"/>
                <a:ea typeface="Roboto"/>
                <a:cs typeface="Roboto"/>
                <a:sym typeface="Roboto"/>
              </a:defRPr>
            </a:lvl5pPr>
            <a:lvl6pPr lvl="5">
              <a:buNone/>
              <a:defRPr sz="1300">
                <a:latin typeface="Roboto"/>
                <a:ea typeface="Roboto"/>
                <a:cs typeface="Roboto"/>
                <a:sym typeface="Roboto"/>
              </a:defRPr>
            </a:lvl6pPr>
            <a:lvl7pPr lvl="6">
              <a:buNone/>
              <a:defRPr sz="1300">
                <a:latin typeface="Roboto"/>
                <a:ea typeface="Roboto"/>
                <a:cs typeface="Roboto"/>
                <a:sym typeface="Roboto"/>
              </a:defRPr>
            </a:lvl7pPr>
            <a:lvl8pPr lvl="7">
              <a:buNone/>
              <a:defRPr sz="1300">
                <a:latin typeface="Roboto"/>
                <a:ea typeface="Roboto"/>
                <a:cs typeface="Roboto"/>
                <a:sym typeface="Roboto"/>
              </a:defRPr>
            </a:lvl8pPr>
            <a:lvl9pPr lvl="8">
              <a:buNone/>
              <a:defRPr sz="1300">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2"/>
          <p:cNvSpPr txBox="1"/>
          <p:nvPr>
            <p:ph hasCustomPrompt="1" type="title"/>
          </p:nvPr>
        </p:nvSpPr>
        <p:spPr>
          <a:xfrm>
            <a:off x="311700" y="957125"/>
            <a:ext cx="8520600" cy="2128800"/>
          </a:xfrm>
          <a:prstGeom prst="rect">
            <a:avLst/>
          </a:prstGeom>
          <a:effectLst>
            <a:outerShdw blurRad="57150" rotWithShape="0" algn="bl" dir="5400000" dist="19050">
              <a:srgbClr val="000000">
                <a:alpha val="50000"/>
              </a:srgbClr>
            </a:outerShdw>
          </a:effectLst>
        </p:spPr>
        <p:txBody>
          <a:bodyPr anchorCtr="0" anchor="ctr" bIns="91425" lIns="91425" spcFirstLastPara="1" rIns="91425" wrap="square" tIns="91425">
            <a:normAutofit/>
          </a:bodyPr>
          <a:lstStyle>
            <a:lvl1pPr lvl="0" algn="ctr">
              <a:spcBef>
                <a:spcPts val="0"/>
              </a:spcBef>
              <a:spcAft>
                <a:spcPts val="0"/>
              </a:spcAft>
              <a:buClr>
                <a:schemeClr val="accent1"/>
              </a:buClr>
              <a:buSzPts val="16000"/>
              <a:buFont typeface="Roboto"/>
              <a:buNone/>
              <a:defRPr sz="16000">
                <a:solidFill>
                  <a:schemeClr val="accent1"/>
                </a:solidFill>
                <a:latin typeface="Roboto"/>
                <a:ea typeface="Roboto"/>
                <a:cs typeface="Roboto"/>
                <a:sym typeface="Roboto"/>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8" name="Google Shape;58;p12"/>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Roboto"/>
              <a:buChar char="●"/>
              <a:defRPr>
                <a:latin typeface="Roboto"/>
                <a:ea typeface="Roboto"/>
                <a:cs typeface="Roboto"/>
                <a:sym typeface="Roboto"/>
              </a:defRPr>
            </a:lvl1pPr>
            <a:lvl2pPr indent="-317500" lvl="1" marL="914400" algn="ctr">
              <a:spcBef>
                <a:spcPts val="0"/>
              </a:spcBef>
              <a:spcAft>
                <a:spcPts val="0"/>
              </a:spcAft>
              <a:buSzPts val="1400"/>
              <a:buFont typeface="Roboto"/>
              <a:buChar char="○"/>
              <a:defRPr>
                <a:latin typeface="Roboto"/>
                <a:ea typeface="Roboto"/>
                <a:cs typeface="Roboto"/>
                <a:sym typeface="Roboto"/>
              </a:defRPr>
            </a:lvl2pPr>
            <a:lvl3pPr indent="-317500" lvl="2" marL="1371600" algn="ctr">
              <a:spcBef>
                <a:spcPts val="0"/>
              </a:spcBef>
              <a:spcAft>
                <a:spcPts val="0"/>
              </a:spcAft>
              <a:buSzPts val="1400"/>
              <a:buFont typeface="Roboto"/>
              <a:buChar char="■"/>
              <a:defRPr>
                <a:latin typeface="Roboto"/>
                <a:ea typeface="Roboto"/>
                <a:cs typeface="Roboto"/>
                <a:sym typeface="Roboto"/>
              </a:defRPr>
            </a:lvl3pPr>
            <a:lvl4pPr indent="-317500" lvl="3" marL="1828800" algn="ctr">
              <a:spcBef>
                <a:spcPts val="0"/>
              </a:spcBef>
              <a:spcAft>
                <a:spcPts val="0"/>
              </a:spcAft>
              <a:buSzPts val="1400"/>
              <a:buFont typeface="Roboto"/>
              <a:buChar char="●"/>
              <a:defRPr>
                <a:latin typeface="Roboto"/>
                <a:ea typeface="Roboto"/>
                <a:cs typeface="Roboto"/>
                <a:sym typeface="Roboto"/>
              </a:defRPr>
            </a:lvl4pPr>
            <a:lvl5pPr indent="-317500" lvl="4" marL="2286000" algn="ctr">
              <a:spcBef>
                <a:spcPts val="0"/>
              </a:spcBef>
              <a:spcAft>
                <a:spcPts val="0"/>
              </a:spcAft>
              <a:buSzPts val="1400"/>
              <a:buFont typeface="Roboto"/>
              <a:buChar char="○"/>
              <a:defRPr>
                <a:latin typeface="Roboto"/>
                <a:ea typeface="Roboto"/>
                <a:cs typeface="Roboto"/>
                <a:sym typeface="Roboto"/>
              </a:defRPr>
            </a:lvl5pPr>
            <a:lvl6pPr indent="-317500" lvl="5" marL="2743200" algn="ctr">
              <a:spcBef>
                <a:spcPts val="0"/>
              </a:spcBef>
              <a:spcAft>
                <a:spcPts val="0"/>
              </a:spcAft>
              <a:buSzPts val="1400"/>
              <a:buFont typeface="Roboto"/>
              <a:buChar char="■"/>
              <a:defRPr>
                <a:latin typeface="Roboto"/>
                <a:ea typeface="Roboto"/>
                <a:cs typeface="Roboto"/>
                <a:sym typeface="Roboto"/>
              </a:defRPr>
            </a:lvl6pPr>
            <a:lvl7pPr indent="-317500" lvl="6" marL="3200400" algn="ctr">
              <a:spcBef>
                <a:spcPts val="0"/>
              </a:spcBef>
              <a:spcAft>
                <a:spcPts val="0"/>
              </a:spcAft>
              <a:buSzPts val="1400"/>
              <a:buFont typeface="Roboto"/>
              <a:buChar char="●"/>
              <a:defRPr>
                <a:latin typeface="Roboto"/>
                <a:ea typeface="Roboto"/>
                <a:cs typeface="Roboto"/>
                <a:sym typeface="Roboto"/>
              </a:defRPr>
            </a:lvl7pPr>
            <a:lvl8pPr indent="-317500" lvl="7" marL="3657600" algn="ctr">
              <a:spcBef>
                <a:spcPts val="0"/>
              </a:spcBef>
              <a:spcAft>
                <a:spcPts val="0"/>
              </a:spcAft>
              <a:buSzPts val="1400"/>
              <a:buFont typeface="Roboto"/>
              <a:buChar char="○"/>
              <a:defRPr>
                <a:latin typeface="Roboto"/>
                <a:ea typeface="Roboto"/>
                <a:cs typeface="Roboto"/>
                <a:sym typeface="Roboto"/>
              </a:defRPr>
            </a:lvl8pPr>
            <a:lvl9pPr indent="-317500" lvl="8" marL="4114800" algn="ctr">
              <a:spcBef>
                <a:spcPts val="0"/>
              </a:spcBef>
              <a:spcAft>
                <a:spcPts val="0"/>
              </a:spcAft>
              <a:buSzPts val="1400"/>
              <a:buFont typeface="Roboto"/>
              <a:buChar char="■"/>
              <a:defRPr>
                <a:latin typeface="Roboto"/>
                <a:ea typeface="Roboto"/>
                <a:cs typeface="Roboto"/>
                <a:sym typeface="Roboto"/>
              </a:defRPr>
            </a:lvl9pPr>
          </a:lstStyle>
          <a:p/>
        </p:txBody>
      </p:sp>
      <p:sp>
        <p:nvSpPr>
          <p:cNvPr id="59" name="Google Shape;59;p12"/>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60" name="Shape 60"/>
        <p:cNvGrpSpPr/>
        <p:nvPr/>
      </p:nvGrpSpPr>
      <p:grpSpPr>
        <a:xfrm>
          <a:off x="0" y="0"/>
          <a:ext cx="0" cy="0"/>
          <a:chOff x="0" y="0"/>
          <a:chExt cx="0" cy="0"/>
        </a:xfrm>
      </p:grpSpPr>
      <p:sp>
        <p:nvSpPr>
          <p:cNvPr id="61" name="Google Shape;61;p13"/>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pic>
        <p:nvPicPr>
          <p:cNvPr id="62" name="Google Shape;62;p13"/>
          <p:cNvPicPr preferRelativeResize="0"/>
          <p:nvPr/>
        </p:nvPicPr>
        <p:blipFill>
          <a:blip r:embed="rId2">
            <a:alphaModFix/>
          </a:blip>
          <a:stretch>
            <a:fillRect/>
          </a:stretch>
        </p:blipFill>
        <p:spPr>
          <a:xfrm>
            <a:off x="2078937" y="1049300"/>
            <a:ext cx="4986125" cy="1931601"/>
          </a:xfrm>
          <a:prstGeom prst="rect">
            <a:avLst/>
          </a:prstGeom>
          <a:noFill/>
          <a:ln>
            <a:noFill/>
          </a:ln>
          <a:effectLst>
            <a:outerShdw blurRad="57150" rotWithShape="0" algn="bl" dir="6540000" dist="76200">
              <a:srgbClr val="000000">
                <a:alpha val="27000"/>
              </a:srgbClr>
            </a:outerShdw>
          </a:effectLst>
        </p:spPr>
      </p:pic>
      <p:sp>
        <p:nvSpPr>
          <p:cNvPr id="63" name="Google Shape;63;p13"/>
          <p:cNvSpPr/>
          <p:nvPr/>
        </p:nvSpPr>
        <p:spPr>
          <a:xfrm>
            <a:off x="8813225" y="219975"/>
            <a:ext cx="174300" cy="32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 name="Google Shape;64;p13"/>
          <p:cNvSpPr/>
          <p:nvPr/>
        </p:nvSpPr>
        <p:spPr>
          <a:xfrm rot="2700959">
            <a:off x="8785989" y="4168499"/>
            <a:ext cx="760493" cy="759645"/>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p:nvPr/>
        </p:nvSpPr>
        <p:spPr>
          <a:xfrm rot="2700877">
            <a:off x="8750351" y="4132437"/>
            <a:ext cx="831770" cy="831770"/>
          </a:xfrm>
          <a:prstGeom prst="rect">
            <a:avLst/>
          </a:prstGeom>
          <a:noFill/>
          <a:ln cap="flat" cmpd="sng" w="2857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792000"/>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400"/>
              <a:buFont typeface="Roboto"/>
              <a:buNone/>
              <a:defRPr sz="3400">
                <a:solidFill>
                  <a:schemeClr val="dk1"/>
                </a:solidFill>
                <a:latin typeface="Roboto"/>
                <a:ea typeface="Roboto"/>
                <a:cs typeface="Roboto"/>
                <a:sym typeface="Roboto"/>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576025"/>
            <a:ext cx="8520600" cy="30033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18596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Light"/>
                <a:ea typeface="Roboto Light"/>
                <a:cs typeface="Roboto Light"/>
                <a:sym typeface="Roboto Light"/>
              </a:defRPr>
            </a:lvl1pPr>
            <a:lvl2pPr lvl="1" algn="r">
              <a:buNone/>
              <a:defRPr sz="1000">
                <a:solidFill>
                  <a:schemeClr val="dk1"/>
                </a:solidFill>
                <a:latin typeface="Roboto Light"/>
                <a:ea typeface="Roboto Light"/>
                <a:cs typeface="Roboto Light"/>
                <a:sym typeface="Roboto Light"/>
              </a:defRPr>
            </a:lvl2pPr>
            <a:lvl3pPr lvl="2" algn="r">
              <a:buNone/>
              <a:defRPr sz="1000">
                <a:solidFill>
                  <a:schemeClr val="dk1"/>
                </a:solidFill>
                <a:latin typeface="Roboto Light"/>
                <a:ea typeface="Roboto Light"/>
                <a:cs typeface="Roboto Light"/>
                <a:sym typeface="Roboto Light"/>
              </a:defRPr>
            </a:lvl3pPr>
            <a:lvl4pPr lvl="3" algn="r">
              <a:buNone/>
              <a:defRPr sz="1000">
                <a:solidFill>
                  <a:schemeClr val="dk1"/>
                </a:solidFill>
                <a:latin typeface="Roboto Light"/>
                <a:ea typeface="Roboto Light"/>
                <a:cs typeface="Roboto Light"/>
                <a:sym typeface="Roboto Light"/>
              </a:defRPr>
            </a:lvl4pPr>
            <a:lvl5pPr lvl="4" algn="r">
              <a:buNone/>
              <a:defRPr sz="1000">
                <a:solidFill>
                  <a:schemeClr val="dk1"/>
                </a:solidFill>
                <a:latin typeface="Roboto Light"/>
                <a:ea typeface="Roboto Light"/>
                <a:cs typeface="Roboto Light"/>
                <a:sym typeface="Roboto Light"/>
              </a:defRPr>
            </a:lvl5pPr>
            <a:lvl6pPr lvl="5" algn="r">
              <a:buNone/>
              <a:defRPr sz="1000">
                <a:solidFill>
                  <a:schemeClr val="dk1"/>
                </a:solidFill>
                <a:latin typeface="Roboto Light"/>
                <a:ea typeface="Roboto Light"/>
                <a:cs typeface="Roboto Light"/>
                <a:sym typeface="Roboto Light"/>
              </a:defRPr>
            </a:lvl6pPr>
            <a:lvl7pPr lvl="6" algn="r">
              <a:buNone/>
              <a:defRPr sz="1000">
                <a:solidFill>
                  <a:schemeClr val="dk1"/>
                </a:solidFill>
                <a:latin typeface="Roboto Light"/>
                <a:ea typeface="Roboto Light"/>
                <a:cs typeface="Roboto Light"/>
                <a:sym typeface="Roboto Light"/>
              </a:defRPr>
            </a:lvl7pPr>
            <a:lvl8pPr lvl="7" algn="r">
              <a:buNone/>
              <a:defRPr sz="1000">
                <a:solidFill>
                  <a:schemeClr val="dk1"/>
                </a:solidFill>
                <a:latin typeface="Roboto Light"/>
                <a:ea typeface="Roboto Light"/>
                <a:cs typeface="Roboto Light"/>
                <a:sym typeface="Roboto Light"/>
              </a:defRPr>
            </a:lvl8pPr>
            <a:lvl9pPr lvl="8" algn="r">
              <a:buNone/>
              <a:defRPr sz="10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fr"/>
              <a:t>‹#›</a:t>
            </a:fld>
            <a:endParaRPr/>
          </a:p>
        </p:txBody>
      </p:sp>
      <p:pic>
        <p:nvPicPr>
          <p:cNvPr id="9" name="Google Shape;9;p1" title="N-pulse logo.png"/>
          <p:cNvPicPr preferRelativeResize="0"/>
          <p:nvPr/>
        </p:nvPicPr>
        <p:blipFill rotWithShape="1">
          <a:blip r:embed="rId1">
            <a:alphaModFix/>
          </a:blip>
          <a:srcRect b="0" l="0" r="60332" t="0"/>
          <a:stretch/>
        </p:blipFill>
        <p:spPr>
          <a:xfrm>
            <a:off x="8618125" y="4528050"/>
            <a:ext cx="403024" cy="3935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8.png"/><Relationship Id="rId6" Type="http://schemas.openxmlformats.org/officeDocument/2006/relationships/image" Target="../media/image10.png"/><Relationship Id="rId7"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linkedin.com/company/epfl-npulse" TargetMode="External"/><Relationship Id="rId4" Type="http://schemas.openxmlformats.org/officeDocument/2006/relationships/image" Target="../media/image20.png"/><Relationship Id="rId5" Type="http://schemas.openxmlformats.org/officeDocument/2006/relationships/hyperlink" Target="https://www.instagram.com/epfl_npulse?utm_source=ig_web_button_share_sheet&amp;igsh=ZDNlZDc0MzIxNw==" TargetMode="External"/><Relationship Id="rId6" Type="http://schemas.openxmlformats.org/officeDocument/2006/relationships/image" Target="../media/image15.png"/><Relationship Id="rId7" Type="http://schemas.openxmlformats.org/officeDocument/2006/relationships/hyperlink" Target="mailto:contact@epfl-npulse.ch" TargetMode="External"/><Relationship Id="rId8" Type="http://schemas.openxmlformats.org/officeDocument/2006/relationships/hyperlink" Target="http://epfl-npulse.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p:nvPr/>
        </p:nvSpPr>
        <p:spPr>
          <a:xfrm>
            <a:off x="2586725" y="3424650"/>
            <a:ext cx="4377000" cy="1719000"/>
          </a:xfrm>
          <a:prstGeom prst="roundRect">
            <a:avLst>
              <a:gd fmla="val 50000" name="adj"/>
            </a:avLst>
          </a:prstGeom>
          <a:gradFill>
            <a:gsLst>
              <a:gs pos="0">
                <a:schemeClr val="lt1"/>
              </a:gs>
              <a:gs pos="20000">
                <a:schemeClr val="lt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 name="Google Shape;71;p14"/>
          <p:cNvSpPr txBox="1"/>
          <p:nvPr>
            <p:ph type="title"/>
          </p:nvPr>
        </p:nvSpPr>
        <p:spPr>
          <a:xfrm>
            <a:off x="2336100" y="3794700"/>
            <a:ext cx="4627500" cy="1348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fr" sz="1100">
                <a:solidFill>
                  <a:schemeClr val="dk1"/>
                </a:solidFill>
                <a:latin typeface="Roboto"/>
                <a:ea typeface="Roboto"/>
                <a:cs typeface="Roboto"/>
                <a:sym typeface="Roboto"/>
              </a:rPr>
              <a:t>Mathis Finckh</a:t>
            </a:r>
            <a:endParaRPr b="1" sz="1100">
              <a:solidFill>
                <a:schemeClr val="dk1"/>
              </a:solidFill>
              <a:latin typeface="Roboto"/>
              <a:ea typeface="Roboto"/>
              <a:cs typeface="Roboto"/>
              <a:sym typeface="Roboto"/>
            </a:endParaRPr>
          </a:p>
          <a:p>
            <a:pPr indent="0" lvl="0" marL="0" rtl="0" algn="ctr">
              <a:spcBef>
                <a:spcPts val="1200"/>
              </a:spcBef>
              <a:spcAft>
                <a:spcPts val="0"/>
              </a:spcAft>
              <a:buNone/>
            </a:pPr>
            <a:r>
              <a:rPr b="1" lang="fr" sz="1100">
                <a:solidFill>
                  <a:schemeClr val="dk1"/>
                </a:solidFill>
                <a:latin typeface="Roboto"/>
                <a:ea typeface="Roboto"/>
                <a:cs typeface="Roboto"/>
                <a:sym typeface="Roboto"/>
              </a:rPr>
              <a:t>N-Pulse Supervisor : Johann Lugon-Moulin</a:t>
            </a:r>
            <a:endParaRPr b="1" sz="1100">
              <a:solidFill>
                <a:schemeClr val="dk1"/>
              </a:solidFill>
              <a:latin typeface="Roboto"/>
              <a:ea typeface="Roboto"/>
              <a:cs typeface="Roboto"/>
              <a:sym typeface="Roboto"/>
            </a:endParaRPr>
          </a:p>
          <a:p>
            <a:pPr indent="0" lvl="0" marL="0" rtl="0" algn="ctr">
              <a:spcBef>
                <a:spcPts val="1200"/>
              </a:spcBef>
              <a:spcAft>
                <a:spcPts val="0"/>
              </a:spcAft>
              <a:buNone/>
            </a:pPr>
            <a:r>
              <a:rPr b="1" lang="fr" sz="1100">
                <a:solidFill>
                  <a:schemeClr val="dk1"/>
                </a:solidFill>
                <a:latin typeface="Roboto"/>
                <a:ea typeface="Roboto"/>
                <a:cs typeface="Roboto"/>
                <a:sym typeface="Roboto"/>
              </a:rPr>
              <a:t>Academic Supervisor : Pr. A. Schmid</a:t>
            </a:r>
            <a:endParaRPr b="1" sz="1100">
              <a:solidFill>
                <a:schemeClr val="dk1"/>
              </a:solidFill>
              <a:latin typeface="Roboto"/>
              <a:ea typeface="Roboto"/>
              <a:cs typeface="Roboto"/>
              <a:sym typeface="Roboto"/>
            </a:endParaRPr>
          </a:p>
          <a:p>
            <a:pPr indent="0" lvl="0" marL="0" rtl="0" algn="ctr">
              <a:spcBef>
                <a:spcPts val="1200"/>
              </a:spcBef>
              <a:spcAft>
                <a:spcPts val="0"/>
              </a:spcAft>
              <a:buNone/>
            </a:pPr>
            <a:r>
              <a:rPr b="1" lang="fr" sz="1100">
                <a:solidFill>
                  <a:schemeClr val="dk1"/>
                </a:solidFill>
                <a:latin typeface="Roboto"/>
                <a:ea typeface="Roboto"/>
                <a:cs typeface="Roboto"/>
                <a:sym typeface="Roboto"/>
              </a:rPr>
              <a:t>26.05.2026</a:t>
            </a:r>
            <a:endParaRPr b="1" sz="1100">
              <a:solidFill>
                <a:schemeClr val="dk1"/>
              </a:solidFill>
              <a:latin typeface="Roboto"/>
              <a:ea typeface="Roboto"/>
              <a:cs typeface="Roboto"/>
              <a:sym typeface="Roboto"/>
            </a:endParaRPr>
          </a:p>
          <a:p>
            <a:pPr indent="0" lvl="0" marL="0" rtl="0" algn="ctr">
              <a:spcBef>
                <a:spcPts val="1200"/>
              </a:spcBef>
              <a:spcAft>
                <a:spcPts val="0"/>
              </a:spcAft>
              <a:buNone/>
            </a:pPr>
            <a:r>
              <a:t/>
            </a:r>
            <a:endParaRPr/>
          </a:p>
        </p:txBody>
      </p:sp>
      <p:sp>
        <p:nvSpPr>
          <p:cNvPr id="72" name="Google Shape;72;p14"/>
          <p:cNvSpPr txBox="1"/>
          <p:nvPr/>
        </p:nvSpPr>
        <p:spPr>
          <a:xfrm>
            <a:off x="155700" y="0"/>
            <a:ext cx="8988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2800">
                <a:solidFill>
                  <a:schemeClr val="accent1"/>
                </a:solidFill>
                <a:latin typeface="Roboto"/>
                <a:ea typeface="Roboto"/>
                <a:cs typeface="Roboto"/>
                <a:sym typeface="Roboto"/>
              </a:rPr>
              <a:t>Semester Project Final Presentation</a:t>
            </a:r>
            <a:endParaRPr b="1" sz="2800">
              <a:solidFill>
                <a:schemeClr val="accent1"/>
              </a:solidFill>
              <a:latin typeface="Roboto"/>
              <a:ea typeface="Roboto"/>
              <a:cs typeface="Roboto"/>
              <a:sym typeface="Roboto"/>
            </a:endParaRPr>
          </a:p>
          <a:p>
            <a:pPr indent="0" lvl="0" marL="0" rtl="0" algn="l">
              <a:spcBef>
                <a:spcPts val="0"/>
              </a:spcBef>
              <a:spcAft>
                <a:spcPts val="0"/>
              </a:spcAft>
              <a:buNone/>
            </a:pPr>
            <a:r>
              <a:rPr lang="fr" sz="2600">
                <a:solidFill>
                  <a:schemeClr val="accent1"/>
                </a:solidFill>
                <a:latin typeface="Roboto"/>
                <a:ea typeface="Roboto"/>
                <a:cs typeface="Roboto"/>
                <a:sym typeface="Roboto"/>
              </a:rPr>
              <a:t>Comprehensive Design of the Safety System of a Prosthesis</a:t>
            </a:r>
            <a:endParaRPr sz="2600">
              <a:solidFill>
                <a:schemeClr val="accent1"/>
              </a:solidFill>
              <a:latin typeface="Roboto"/>
              <a:ea typeface="Roboto"/>
              <a:cs typeface="Roboto"/>
              <a:sym typeface="Roboto"/>
            </a:endParaRPr>
          </a:p>
        </p:txBody>
      </p:sp>
      <p:sp>
        <p:nvSpPr>
          <p:cNvPr id="73" name="Google Shape;73;p14"/>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473550" y="526350"/>
            <a:ext cx="8196900" cy="558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Overview</a:t>
            </a:r>
            <a:endParaRPr/>
          </a:p>
        </p:txBody>
      </p:sp>
      <p:sp>
        <p:nvSpPr>
          <p:cNvPr id="79" name="Google Shape;79;p15"/>
          <p:cNvSpPr txBox="1"/>
          <p:nvPr>
            <p:ph idx="4294967295" type="body"/>
          </p:nvPr>
        </p:nvSpPr>
        <p:spPr>
          <a:xfrm>
            <a:off x="341550" y="1276550"/>
            <a:ext cx="8460900" cy="33888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lt1"/>
              </a:buClr>
              <a:buSzPts val="1400"/>
              <a:buFont typeface="Georgia"/>
              <a:buAutoNum type="arabicPeriod"/>
            </a:pPr>
            <a:r>
              <a:rPr b="1" lang="fr" sz="1400">
                <a:solidFill>
                  <a:schemeClr val="lt1"/>
                </a:solidFill>
              </a:rPr>
              <a:t>Context &amp; Introduction:</a:t>
            </a:r>
            <a:r>
              <a:rPr lang="fr" sz="1400">
                <a:solidFill>
                  <a:schemeClr val="lt1"/>
                </a:solidFill>
              </a:rPr>
              <a:t> N-Pulse mission and the need for a </a:t>
            </a:r>
            <a:r>
              <a:rPr lang="fr" sz="1400">
                <a:solidFill>
                  <a:schemeClr val="lt1"/>
                </a:solidFill>
              </a:rPr>
              <a:t>s</a:t>
            </a:r>
            <a:r>
              <a:rPr lang="fr" sz="1400">
                <a:solidFill>
                  <a:schemeClr val="lt1"/>
                </a:solidFill>
              </a:rPr>
              <a:t>oftware-controlled prosthetic safety system.</a:t>
            </a:r>
            <a:endParaRPr sz="1400">
              <a:solidFill>
                <a:schemeClr val="lt1"/>
              </a:solidFill>
            </a:endParaRPr>
          </a:p>
          <a:p>
            <a:pPr indent="0" lvl="0" marL="457200" rtl="0" algn="l">
              <a:spcBef>
                <a:spcPts val="0"/>
              </a:spcBef>
              <a:spcAft>
                <a:spcPts val="0"/>
              </a:spcAft>
              <a:buNone/>
            </a:pPr>
            <a:r>
              <a:t/>
            </a:r>
            <a:endParaRPr sz="1400">
              <a:solidFill>
                <a:schemeClr val="lt1"/>
              </a:solidFill>
            </a:endParaRPr>
          </a:p>
          <a:p>
            <a:pPr indent="-317500" lvl="0" marL="457200" rtl="0" algn="l">
              <a:spcBef>
                <a:spcPts val="0"/>
              </a:spcBef>
              <a:spcAft>
                <a:spcPts val="0"/>
              </a:spcAft>
              <a:buClr>
                <a:schemeClr val="lt1"/>
              </a:buClr>
              <a:buSzPts val="1400"/>
              <a:buFont typeface="Georgia"/>
              <a:buAutoNum type="arabicPeriod"/>
            </a:pPr>
            <a:r>
              <a:rPr b="1" lang="fr" sz="1400">
                <a:solidFill>
                  <a:schemeClr val="lt1"/>
                </a:solidFill>
              </a:rPr>
              <a:t>Hardware &amp; Component Selection:</a:t>
            </a:r>
            <a:r>
              <a:rPr lang="fr" sz="1400">
                <a:solidFill>
                  <a:schemeClr val="lt1"/>
                </a:solidFill>
              </a:rPr>
              <a:t> Overview of the chosen sensors (thermal, humidity, electrical, mechanical) and the MCU power disconnect.</a:t>
            </a:r>
            <a:endParaRPr sz="1400">
              <a:solidFill>
                <a:schemeClr val="lt1"/>
              </a:solidFill>
            </a:endParaRPr>
          </a:p>
          <a:p>
            <a:pPr indent="0" lvl="0" marL="457200" rtl="0" algn="l">
              <a:spcBef>
                <a:spcPts val="0"/>
              </a:spcBef>
              <a:spcAft>
                <a:spcPts val="0"/>
              </a:spcAft>
              <a:buNone/>
            </a:pPr>
            <a:r>
              <a:t/>
            </a:r>
            <a:endParaRPr sz="1400">
              <a:solidFill>
                <a:schemeClr val="lt1"/>
              </a:solidFill>
            </a:endParaRPr>
          </a:p>
          <a:p>
            <a:pPr indent="-317500" lvl="0" marL="457200" marR="0" rtl="0" algn="l">
              <a:lnSpc>
                <a:spcPct val="115000"/>
              </a:lnSpc>
              <a:spcBef>
                <a:spcPts val="0"/>
              </a:spcBef>
              <a:spcAft>
                <a:spcPts val="0"/>
              </a:spcAft>
              <a:buClr>
                <a:schemeClr val="lt1"/>
              </a:buClr>
              <a:buSzPts val="1400"/>
              <a:buFont typeface="Georgia"/>
              <a:buAutoNum type="arabicPeriod"/>
            </a:pPr>
            <a:r>
              <a:rPr b="1" lang="fr" sz="1400">
                <a:solidFill>
                  <a:schemeClr val="lt1"/>
                </a:solidFill>
              </a:rPr>
              <a:t>Software</a:t>
            </a:r>
            <a:r>
              <a:rPr lang="fr" sz="1400">
                <a:solidFill>
                  <a:schemeClr val="lt1"/>
                </a:solidFill>
              </a:rPr>
              <a:t> : </a:t>
            </a:r>
            <a:r>
              <a:rPr lang="fr" sz="1400">
                <a:solidFill>
                  <a:schemeClr val="lt1"/>
                </a:solidFill>
              </a:rPr>
              <a:t>Explanation</a:t>
            </a:r>
            <a:r>
              <a:rPr lang="fr" sz="1400">
                <a:solidFill>
                  <a:schemeClr val="lt1"/>
                </a:solidFill>
              </a:rPr>
              <a:t> of code logic</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317500" lvl="0" marL="457200" rtl="0" algn="l">
              <a:spcBef>
                <a:spcPts val="0"/>
              </a:spcBef>
              <a:spcAft>
                <a:spcPts val="0"/>
              </a:spcAft>
              <a:buClr>
                <a:schemeClr val="lt1"/>
              </a:buClr>
              <a:buSzPts val="1400"/>
              <a:buFont typeface="Georgia"/>
              <a:buAutoNum type="arabicPeriod"/>
            </a:pPr>
            <a:r>
              <a:rPr b="1" lang="fr" sz="1400">
                <a:solidFill>
                  <a:schemeClr val="lt1"/>
                </a:solidFill>
              </a:rPr>
              <a:t>Engineering Justifications:</a:t>
            </a:r>
            <a:r>
              <a:rPr lang="fr" sz="1400">
                <a:solidFill>
                  <a:schemeClr val="lt1"/>
                </a:solidFill>
              </a:rPr>
              <a:t> Mathematical models validating thermal responses, capacitance, electromagnetic noise, and shock thresholds.</a:t>
            </a:r>
            <a:endParaRPr sz="1400">
              <a:solidFill>
                <a:schemeClr val="lt1"/>
              </a:solidFill>
            </a:endParaRPr>
          </a:p>
          <a:p>
            <a:pPr indent="0" lvl="0" marL="457200" rtl="0" algn="l">
              <a:spcBef>
                <a:spcPts val="0"/>
              </a:spcBef>
              <a:spcAft>
                <a:spcPts val="0"/>
              </a:spcAft>
              <a:buNone/>
            </a:pPr>
            <a:r>
              <a:t/>
            </a:r>
            <a:endParaRPr sz="1400">
              <a:solidFill>
                <a:schemeClr val="lt1"/>
              </a:solidFill>
            </a:endParaRPr>
          </a:p>
          <a:p>
            <a:pPr indent="-317500" lvl="0" marL="457200" rtl="0" algn="l">
              <a:spcBef>
                <a:spcPts val="0"/>
              </a:spcBef>
              <a:spcAft>
                <a:spcPts val="0"/>
              </a:spcAft>
              <a:buClr>
                <a:schemeClr val="lt1"/>
              </a:buClr>
              <a:buSzPts val="1400"/>
              <a:buFont typeface="Georgia"/>
              <a:buAutoNum type="arabicPeriod"/>
            </a:pPr>
            <a:r>
              <a:rPr b="1" lang="fr" sz="1400">
                <a:solidFill>
                  <a:schemeClr val="lt1"/>
                </a:solidFill>
              </a:rPr>
              <a:t>Conclusion &amp; Next Steps:</a:t>
            </a:r>
            <a:r>
              <a:rPr lang="fr" sz="1400">
                <a:solidFill>
                  <a:schemeClr val="lt1"/>
                </a:solidFill>
              </a:rPr>
              <a:t> Final prototype results, physical limitations, and plans for future testing.</a:t>
            </a:r>
            <a:endParaRPr sz="2000">
              <a:solidFill>
                <a:schemeClr val="lt1"/>
              </a:solidFill>
            </a:endParaRPr>
          </a:p>
        </p:txBody>
      </p:sp>
      <p:sp>
        <p:nvSpPr>
          <p:cNvPr id="80" name="Google Shape;80;p15"/>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275550" y="526350"/>
            <a:ext cx="8196900" cy="4090800"/>
          </a:xfrm>
          <a:prstGeom prst="rect">
            <a:avLst/>
          </a:prstGeom>
        </p:spPr>
        <p:txBody>
          <a:bodyPr anchorCtr="0" anchor="ctr" bIns="91425" lIns="91425" spcFirstLastPara="1" rIns="91425" wrap="square" tIns="91425">
            <a:normAutofit/>
          </a:bodyPr>
          <a:lstStyle/>
          <a:p>
            <a:pPr indent="0" lvl="0" marL="457200" rtl="0" algn="ctr">
              <a:lnSpc>
                <a:spcPct val="115000"/>
              </a:lnSpc>
              <a:spcBef>
                <a:spcPts val="0"/>
              </a:spcBef>
              <a:spcAft>
                <a:spcPts val="0"/>
              </a:spcAft>
              <a:buNone/>
            </a:pPr>
            <a:r>
              <a:rPr lang="fr" sz="4200">
                <a:latin typeface="Roboto Black"/>
                <a:ea typeface="Roboto Black"/>
                <a:cs typeface="Roboto Black"/>
                <a:sym typeface="Roboto Black"/>
              </a:rPr>
              <a:t>1. Context &amp; Introduction</a:t>
            </a:r>
            <a:endParaRPr sz="7600">
              <a:latin typeface="Roboto Black"/>
              <a:ea typeface="Roboto Black"/>
              <a:cs typeface="Roboto Black"/>
              <a:sym typeface="Roboto Black"/>
            </a:endParaRPr>
          </a:p>
        </p:txBody>
      </p:sp>
      <p:sp>
        <p:nvSpPr>
          <p:cNvPr id="86" name="Google Shape;86;p16"/>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N-Pulse</a:t>
            </a:r>
            <a:endParaRPr/>
          </a:p>
        </p:txBody>
      </p:sp>
      <p:sp>
        <p:nvSpPr>
          <p:cNvPr id="92" name="Google Shape;92;p17"/>
          <p:cNvSpPr txBox="1"/>
          <p:nvPr>
            <p:ph idx="1" type="body"/>
          </p:nvPr>
        </p:nvSpPr>
        <p:spPr>
          <a:xfrm>
            <a:off x="4477000" y="1440000"/>
            <a:ext cx="4331400" cy="314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EPFL MAKE project</a:t>
            </a:r>
            <a:endParaRPr sz="1500">
              <a:solidFill>
                <a:srgbClr val="27251E"/>
              </a:solidFill>
              <a:latin typeface="Georgia"/>
              <a:ea typeface="Georgia"/>
              <a:cs typeface="Georgia"/>
              <a:sym typeface="Georgia"/>
            </a:endParaRPr>
          </a:p>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Build cutting edge, open-source, accessible, non-invasive biomedical technologies</a:t>
            </a:r>
            <a:endParaRPr sz="1500">
              <a:solidFill>
                <a:srgbClr val="27251E"/>
              </a:solidFill>
              <a:latin typeface="Georgia"/>
              <a:ea typeface="Georgia"/>
              <a:cs typeface="Georgia"/>
              <a:sym typeface="Georgia"/>
            </a:endParaRPr>
          </a:p>
          <a:p>
            <a:pPr indent="0" lvl="0" marL="457200" rtl="0" algn="l">
              <a:spcBef>
                <a:spcPts val="1200"/>
              </a:spcBef>
              <a:spcAft>
                <a:spcPts val="0"/>
              </a:spcAft>
              <a:buNone/>
            </a:pPr>
            <a:r>
              <a:t/>
            </a:r>
            <a:endParaRPr sz="1500">
              <a:solidFill>
                <a:srgbClr val="27251E"/>
              </a:solidFill>
              <a:latin typeface="Georgia"/>
              <a:ea typeface="Georgia"/>
              <a:cs typeface="Georgia"/>
              <a:sym typeface="Georgia"/>
            </a:endParaRPr>
          </a:p>
          <a:p>
            <a:pPr indent="-323850" lvl="0" marL="457200" rtl="0" algn="l">
              <a:spcBef>
                <a:spcPts val="120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BMI : EMG, EEG, and computer vision controls</a:t>
            </a:r>
            <a:endParaRPr sz="1500">
              <a:solidFill>
                <a:srgbClr val="27251E"/>
              </a:solidFill>
              <a:latin typeface="Georgia"/>
              <a:ea typeface="Georgia"/>
              <a:cs typeface="Georgia"/>
              <a:sym typeface="Georgia"/>
            </a:endParaRPr>
          </a:p>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Prosthesis : Mechanical, electrical and </a:t>
            </a:r>
            <a:r>
              <a:rPr lang="fr" sz="1500">
                <a:solidFill>
                  <a:srgbClr val="27251E"/>
                </a:solidFill>
                <a:latin typeface="Georgia"/>
                <a:ea typeface="Georgia"/>
                <a:cs typeface="Georgia"/>
                <a:sym typeface="Georgia"/>
              </a:rPr>
              <a:t>software</a:t>
            </a:r>
            <a:r>
              <a:rPr lang="fr" sz="1500">
                <a:solidFill>
                  <a:srgbClr val="27251E"/>
                </a:solidFill>
                <a:latin typeface="Georgia"/>
                <a:ea typeface="Georgia"/>
                <a:cs typeface="Georgia"/>
                <a:sym typeface="Georgia"/>
              </a:rPr>
              <a:t> design of the arm</a:t>
            </a:r>
            <a:endParaRPr sz="1500">
              <a:solidFill>
                <a:srgbClr val="27251E"/>
              </a:solidFill>
              <a:latin typeface="Georgia"/>
              <a:ea typeface="Georgia"/>
              <a:cs typeface="Georgia"/>
              <a:sym typeface="Georgia"/>
            </a:endParaRPr>
          </a:p>
        </p:txBody>
      </p:sp>
      <p:pic>
        <p:nvPicPr>
          <p:cNvPr id="93" name="Google Shape;93;p17"/>
          <p:cNvPicPr preferRelativeResize="0"/>
          <p:nvPr/>
        </p:nvPicPr>
        <p:blipFill>
          <a:blip r:embed="rId3">
            <a:alphaModFix/>
          </a:blip>
          <a:stretch>
            <a:fillRect/>
          </a:stretch>
        </p:blipFill>
        <p:spPr>
          <a:xfrm>
            <a:off x="-32725" y="1296700"/>
            <a:ext cx="4365301" cy="2956675"/>
          </a:xfrm>
          <a:prstGeom prst="rect">
            <a:avLst/>
          </a:prstGeom>
          <a:noFill/>
          <a:ln>
            <a:noFill/>
          </a:ln>
        </p:spPr>
      </p:pic>
      <p:sp>
        <p:nvSpPr>
          <p:cNvPr id="94" name="Google Shape;94;p17"/>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Current Safety Limitations</a:t>
            </a:r>
            <a:endParaRPr/>
          </a:p>
        </p:txBody>
      </p:sp>
      <p:sp>
        <p:nvSpPr>
          <p:cNvPr id="100" name="Google Shape;100;p18"/>
          <p:cNvSpPr txBox="1"/>
          <p:nvPr>
            <p:ph idx="1" type="body"/>
          </p:nvPr>
        </p:nvSpPr>
        <p:spPr>
          <a:xfrm>
            <a:off x="4477000" y="1440000"/>
            <a:ext cx="4331400" cy="314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Currently fuse on power board as main protection</a:t>
            </a:r>
            <a:endParaRPr sz="1500">
              <a:solidFill>
                <a:srgbClr val="27251E"/>
              </a:solidFill>
              <a:latin typeface="Georgia"/>
              <a:ea typeface="Georgia"/>
              <a:cs typeface="Georgia"/>
              <a:sym typeface="Georgia"/>
            </a:endParaRPr>
          </a:p>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Risks : </a:t>
            </a:r>
            <a:endParaRPr sz="1500">
              <a:solidFill>
                <a:srgbClr val="27251E"/>
              </a:solidFill>
              <a:latin typeface="Georgia"/>
              <a:ea typeface="Georgia"/>
              <a:cs typeface="Georgia"/>
              <a:sym typeface="Georgia"/>
            </a:endParaRPr>
          </a:p>
          <a:p>
            <a:pPr indent="-323850" lvl="1" marL="9144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Over Currents</a:t>
            </a:r>
            <a:endParaRPr sz="1500">
              <a:solidFill>
                <a:srgbClr val="27251E"/>
              </a:solidFill>
              <a:latin typeface="Georgia"/>
              <a:ea typeface="Georgia"/>
              <a:cs typeface="Georgia"/>
              <a:sym typeface="Georgia"/>
            </a:endParaRPr>
          </a:p>
          <a:p>
            <a:pPr indent="-323850" lvl="1" marL="9144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Overheating in battery and motors</a:t>
            </a:r>
            <a:endParaRPr sz="1500">
              <a:solidFill>
                <a:srgbClr val="27251E"/>
              </a:solidFill>
              <a:latin typeface="Georgia"/>
              <a:ea typeface="Georgia"/>
              <a:cs typeface="Georgia"/>
              <a:sym typeface="Georgia"/>
            </a:endParaRPr>
          </a:p>
          <a:p>
            <a:pPr indent="-323850" lvl="1" marL="9144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High temperature of </a:t>
            </a:r>
            <a:r>
              <a:rPr lang="fr" sz="1500">
                <a:solidFill>
                  <a:srgbClr val="27251E"/>
                </a:solidFill>
                <a:latin typeface="Georgia"/>
                <a:ea typeface="Georgia"/>
                <a:cs typeface="Georgia"/>
                <a:sym typeface="Georgia"/>
              </a:rPr>
              <a:t>ambient</a:t>
            </a:r>
            <a:r>
              <a:rPr lang="fr" sz="1500">
                <a:solidFill>
                  <a:srgbClr val="27251E"/>
                </a:solidFill>
                <a:latin typeface="Georgia"/>
                <a:ea typeface="Georgia"/>
                <a:cs typeface="Georgia"/>
                <a:sym typeface="Georgia"/>
              </a:rPr>
              <a:t> air for</a:t>
            </a:r>
            <a:endParaRPr sz="1500">
              <a:solidFill>
                <a:srgbClr val="27251E"/>
              </a:solidFill>
              <a:latin typeface="Georgia"/>
              <a:ea typeface="Georgia"/>
              <a:cs typeface="Georgia"/>
              <a:sym typeface="Georgia"/>
            </a:endParaRPr>
          </a:p>
          <a:p>
            <a:pPr indent="-323850" lvl="2" marL="13716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electronics</a:t>
            </a:r>
            <a:endParaRPr sz="1500">
              <a:solidFill>
                <a:srgbClr val="27251E"/>
              </a:solidFill>
              <a:latin typeface="Georgia"/>
              <a:ea typeface="Georgia"/>
              <a:cs typeface="Georgia"/>
              <a:sym typeface="Georgia"/>
            </a:endParaRPr>
          </a:p>
          <a:p>
            <a:pPr indent="-323850" lvl="2" marL="13716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patient skin contact</a:t>
            </a:r>
            <a:endParaRPr sz="1500">
              <a:solidFill>
                <a:srgbClr val="27251E"/>
              </a:solidFill>
              <a:latin typeface="Georgia"/>
              <a:ea typeface="Georgia"/>
              <a:cs typeface="Georgia"/>
              <a:sym typeface="Georgia"/>
            </a:endParaRPr>
          </a:p>
          <a:p>
            <a:pPr indent="-323850" lvl="1" marL="9144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High relative humidity</a:t>
            </a:r>
            <a:endParaRPr sz="1500">
              <a:solidFill>
                <a:srgbClr val="27251E"/>
              </a:solidFill>
              <a:latin typeface="Georgia"/>
              <a:ea typeface="Georgia"/>
              <a:cs typeface="Georgia"/>
              <a:sym typeface="Georgia"/>
            </a:endParaRPr>
          </a:p>
          <a:p>
            <a:pPr indent="-323850" lvl="1" marL="9144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High impacts</a:t>
            </a:r>
            <a:endParaRPr sz="1500">
              <a:solidFill>
                <a:srgbClr val="27251E"/>
              </a:solidFill>
              <a:latin typeface="Georgia"/>
              <a:ea typeface="Georgia"/>
              <a:cs typeface="Georgia"/>
              <a:sym typeface="Georgia"/>
            </a:endParaRPr>
          </a:p>
        </p:txBody>
      </p:sp>
      <p:sp>
        <p:nvSpPr>
          <p:cNvPr id="101" name="Google Shape;101;p18"/>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02" name="Google Shape;102;p18"/>
          <p:cNvSpPr txBox="1"/>
          <p:nvPr/>
        </p:nvSpPr>
        <p:spPr>
          <a:xfrm>
            <a:off x="2433150" y="4616675"/>
            <a:ext cx="645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grpSp>
        <p:nvGrpSpPr>
          <p:cNvPr id="103" name="Google Shape;103;p18"/>
          <p:cNvGrpSpPr/>
          <p:nvPr/>
        </p:nvGrpSpPr>
        <p:grpSpPr>
          <a:xfrm>
            <a:off x="-32725" y="1123325"/>
            <a:ext cx="4604725" cy="3574574"/>
            <a:chOff x="-32725" y="1123325"/>
            <a:chExt cx="4604725" cy="3574574"/>
          </a:xfrm>
        </p:grpSpPr>
        <p:pic>
          <p:nvPicPr>
            <p:cNvPr id="104" name="Google Shape;104;p18"/>
            <p:cNvPicPr preferRelativeResize="0"/>
            <p:nvPr/>
          </p:nvPicPr>
          <p:blipFill>
            <a:blip r:embed="rId3">
              <a:alphaModFix/>
            </a:blip>
            <a:stretch>
              <a:fillRect/>
            </a:stretch>
          </p:blipFill>
          <p:spPr>
            <a:xfrm>
              <a:off x="-32725" y="1296700"/>
              <a:ext cx="4365301" cy="2956675"/>
            </a:xfrm>
            <a:prstGeom prst="rect">
              <a:avLst/>
            </a:prstGeom>
            <a:noFill/>
            <a:ln>
              <a:noFill/>
            </a:ln>
          </p:spPr>
        </p:pic>
        <p:sp>
          <p:nvSpPr>
            <p:cNvPr id="105" name="Google Shape;105;p18"/>
            <p:cNvSpPr/>
            <p:nvPr/>
          </p:nvSpPr>
          <p:spPr>
            <a:xfrm rot="-8305765">
              <a:off x="1424604" y="3611536"/>
              <a:ext cx="705984" cy="974899"/>
            </a:xfrm>
            <a:prstGeom prst="lightningBolt">
              <a:avLst/>
            </a:prstGeom>
            <a:solidFill>
              <a:srgbClr val="C9DAF8"/>
            </a:soli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06" name="Google Shape;106;p18" title="Screenshot 2026-05-26 at 11.12.11.png"/>
            <p:cNvPicPr preferRelativeResize="0"/>
            <p:nvPr/>
          </p:nvPicPr>
          <p:blipFill>
            <a:blip r:embed="rId4">
              <a:alphaModFix/>
            </a:blip>
            <a:stretch>
              <a:fillRect/>
            </a:stretch>
          </p:blipFill>
          <p:spPr>
            <a:xfrm rot="-6840605">
              <a:off x="263975" y="1794100"/>
              <a:ext cx="1093400" cy="1087324"/>
            </a:xfrm>
            <a:prstGeom prst="rect">
              <a:avLst/>
            </a:prstGeom>
            <a:noFill/>
            <a:ln>
              <a:noFill/>
            </a:ln>
          </p:spPr>
        </p:pic>
        <p:sp>
          <p:nvSpPr>
            <p:cNvPr id="107" name="Google Shape;107;p18"/>
            <p:cNvSpPr/>
            <p:nvPr/>
          </p:nvSpPr>
          <p:spPr>
            <a:xfrm>
              <a:off x="147150" y="1123325"/>
              <a:ext cx="705900" cy="691800"/>
            </a:xfrm>
            <a:prstGeom prst="sun">
              <a:avLst>
                <a:gd fmla="val 25000" name="adj"/>
              </a:avLst>
            </a:prstGeom>
            <a:solidFill>
              <a:srgbClr val="FFD966"/>
            </a:solidFill>
            <a:ln cap="flat" cmpd="sng" w="952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 name="Google Shape;108;p18"/>
            <p:cNvSpPr txBox="1"/>
            <p:nvPr/>
          </p:nvSpPr>
          <p:spPr>
            <a:xfrm flipH="1" rot="10800000">
              <a:off x="3503700" y="2122375"/>
              <a:ext cx="1068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6000"/>
                <a:t>💥</a:t>
              </a:r>
              <a:endParaRPr sz="6000"/>
            </a:p>
          </p:txBody>
        </p:sp>
        <p:pic>
          <p:nvPicPr>
            <p:cNvPr id="109" name="Google Shape;109;p18" title="Screenshot 2026-05-26 at 11.15.19.png"/>
            <p:cNvPicPr preferRelativeResize="0"/>
            <p:nvPr/>
          </p:nvPicPr>
          <p:blipFill>
            <a:blip r:embed="rId5">
              <a:alphaModFix/>
            </a:blip>
            <a:stretch>
              <a:fillRect/>
            </a:stretch>
          </p:blipFill>
          <p:spPr>
            <a:xfrm>
              <a:off x="1681525" y="1877623"/>
              <a:ext cx="453853" cy="6465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Project goal</a:t>
            </a:r>
            <a:endParaRPr/>
          </a:p>
        </p:txBody>
      </p:sp>
      <p:sp>
        <p:nvSpPr>
          <p:cNvPr id="115" name="Google Shape;115;p19"/>
          <p:cNvSpPr txBox="1"/>
          <p:nvPr>
            <p:ph idx="1" type="body"/>
          </p:nvPr>
        </p:nvSpPr>
        <p:spPr>
          <a:xfrm>
            <a:off x="4812600" y="1574325"/>
            <a:ext cx="4331400" cy="314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Create software-controlled battery disconnect system</a:t>
            </a:r>
            <a:endParaRPr sz="1500">
              <a:solidFill>
                <a:srgbClr val="27251E"/>
              </a:solidFill>
              <a:latin typeface="Georgia"/>
              <a:ea typeface="Georgia"/>
              <a:cs typeface="Georgia"/>
              <a:sym typeface="Georgia"/>
            </a:endParaRPr>
          </a:p>
          <a:p>
            <a:pPr indent="-323850" lvl="0" marL="457200" marR="0" rtl="0" algn="l">
              <a:lnSpc>
                <a:spcPct val="115000"/>
              </a:lnSpc>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Monitors sensors for each risk</a:t>
            </a:r>
            <a:endParaRPr sz="1500">
              <a:solidFill>
                <a:srgbClr val="27251E"/>
              </a:solidFill>
              <a:latin typeface="Georgia"/>
              <a:ea typeface="Georgia"/>
              <a:cs typeface="Georgia"/>
              <a:sym typeface="Georgia"/>
            </a:endParaRPr>
          </a:p>
          <a:p>
            <a:pPr indent="-323850" lvl="0" marL="457200" marR="0" rtl="0" algn="l">
              <a:lnSpc>
                <a:spcPct val="115000"/>
              </a:lnSpc>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Provide diagnostic data for troubleshooting</a:t>
            </a:r>
            <a:endParaRPr sz="1500">
              <a:solidFill>
                <a:srgbClr val="27251E"/>
              </a:solidFill>
              <a:latin typeface="Georgia"/>
              <a:ea typeface="Georgia"/>
              <a:cs typeface="Georgia"/>
              <a:sym typeface="Georgia"/>
            </a:endParaRPr>
          </a:p>
          <a:p>
            <a:pPr indent="-323850" lvl="0" marL="457200" marR="0" rtl="0" algn="l">
              <a:lnSpc>
                <a:spcPct val="115000"/>
              </a:lnSpc>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Live visualization</a:t>
            </a:r>
            <a:endParaRPr sz="1500">
              <a:solidFill>
                <a:srgbClr val="27251E"/>
              </a:solidFill>
              <a:latin typeface="Georgia"/>
              <a:ea typeface="Georgia"/>
              <a:cs typeface="Georgia"/>
              <a:sym typeface="Georgia"/>
            </a:endParaRPr>
          </a:p>
          <a:p>
            <a:pPr indent="-323850" lvl="0" marL="457200" marR="0" rtl="0" algn="l">
              <a:lnSpc>
                <a:spcPct val="115000"/>
              </a:lnSpc>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Data storage and analysis</a:t>
            </a:r>
            <a:endParaRPr sz="1500">
              <a:solidFill>
                <a:srgbClr val="27251E"/>
              </a:solidFill>
              <a:latin typeface="Georgia"/>
              <a:ea typeface="Georgia"/>
              <a:cs typeface="Georgia"/>
              <a:sym typeface="Georgia"/>
            </a:endParaRPr>
          </a:p>
          <a:p>
            <a:pPr indent="-323850" lvl="0" marL="457200" marR="0" rtl="0" algn="l">
              <a:lnSpc>
                <a:spcPct val="115000"/>
              </a:lnSpc>
              <a:spcBef>
                <a:spcPts val="0"/>
              </a:spcBef>
              <a:spcAft>
                <a:spcPts val="0"/>
              </a:spcAft>
              <a:buClr>
                <a:srgbClr val="27251E"/>
              </a:buClr>
              <a:buSzPts val="1500"/>
              <a:buFont typeface="Georgia"/>
              <a:buChar char="-"/>
            </a:pPr>
            <a:r>
              <a:rPr lang="fr" sz="1500">
                <a:solidFill>
                  <a:srgbClr val="27251E"/>
                </a:solidFill>
                <a:latin typeface="Georgia"/>
                <a:ea typeface="Georgia"/>
                <a:cs typeface="Georgia"/>
                <a:sym typeface="Georgia"/>
              </a:rPr>
              <a:t>Electrically controlled battery disconnect</a:t>
            </a:r>
            <a:endParaRPr sz="1500">
              <a:solidFill>
                <a:srgbClr val="27251E"/>
              </a:solidFill>
              <a:latin typeface="Georgia"/>
              <a:ea typeface="Georgia"/>
              <a:cs typeface="Georgia"/>
              <a:sym typeface="Georgia"/>
            </a:endParaRPr>
          </a:p>
        </p:txBody>
      </p:sp>
      <p:sp>
        <p:nvSpPr>
          <p:cNvPr id="116" name="Google Shape;116;p19"/>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grpSp>
        <p:nvGrpSpPr>
          <p:cNvPr id="117" name="Google Shape;117;p19"/>
          <p:cNvGrpSpPr/>
          <p:nvPr/>
        </p:nvGrpSpPr>
        <p:grpSpPr>
          <a:xfrm>
            <a:off x="-32725" y="1123325"/>
            <a:ext cx="4604725" cy="3574574"/>
            <a:chOff x="-32725" y="1123325"/>
            <a:chExt cx="4604725" cy="3574574"/>
          </a:xfrm>
        </p:grpSpPr>
        <p:pic>
          <p:nvPicPr>
            <p:cNvPr id="118" name="Google Shape;118;p19"/>
            <p:cNvPicPr preferRelativeResize="0"/>
            <p:nvPr/>
          </p:nvPicPr>
          <p:blipFill>
            <a:blip r:embed="rId3">
              <a:alphaModFix/>
            </a:blip>
            <a:stretch>
              <a:fillRect/>
            </a:stretch>
          </p:blipFill>
          <p:spPr>
            <a:xfrm>
              <a:off x="-32725" y="1296700"/>
              <a:ext cx="4365301" cy="2956675"/>
            </a:xfrm>
            <a:prstGeom prst="rect">
              <a:avLst/>
            </a:prstGeom>
            <a:noFill/>
            <a:ln>
              <a:noFill/>
            </a:ln>
          </p:spPr>
        </p:pic>
        <p:sp>
          <p:nvSpPr>
            <p:cNvPr id="119" name="Google Shape;119;p19"/>
            <p:cNvSpPr/>
            <p:nvPr/>
          </p:nvSpPr>
          <p:spPr>
            <a:xfrm rot="-8305765">
              <a:off x="1424604" y="3611536"/>
              <a:ext cx="705984" cy="974899"/>
            </a:xfrm>
            <a:prstGeom prst="lightningBolt">
              <a:avLst/>
            </a:prstGeom>
            <a:solidFill>
              <a:srgbClr val="C9DAF8"/>
            </a:solid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20" name="Google Shape;120;p19" title="Screenshot 2026-05-26 at 11.12.11.png"/>
            <p:cNvPicPr preferRelativeResize="0"/>
            <p:nvPr/>
          </p:nvPicPr>
          <p:blipFill>
            <a:blip r:embed="rId4">
              <a:alphaModFix/>
            </a:blip>
            <a:stretch>
              <a:fillRect/>
            </a:stretch>
          </p:blipFill>
          <p:spPr>
            <a:xfrm rot="-6840605">
              <a:off x="263975" y="1794100"/>
              <a:ext cx="1093400" cy="1087324"/>
            </a:xfrm>
            <a:prstGeom prst="rect">
              <a:avLst/>
            </a:prstGeom>
            <a:noFill/>
            <a:ln>
              <a:noFill/>
            </a:ln>
          </p:spPr>
        </p:pic>
        <p:sp>
          <p:nvSpPr>
            <p:cNvPr id="121" name="Google Shape;121;p19"/>
            <p:cNvSpPr/>
            <p:nvPr/>
          </p:nvSpPr>
          <p:spPr>
            <a:xfrm>
              <a:off x="147150" y="1123325"/>
              <a:ext cx="705900" cy="691800"/>
            </a:xfrm>
            <a:prstGeom prst="sun">
              <a:avLst>
                <a:gd fmla="val 25000" name="adj"/>
              </a:avLst>
            </a:prstGeom>
            <a:solidFill>
              <a:srgbClr val="FFD966"/>
            </a:solidFill>
            <a:ln cap="flat" cmpd="sng" w="952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 name="Google Shape;122;p19"/>
            <p:cNvSpPr txBox="1"/>
            <p:nvPr/>
          </p:nvSpPr>
          <p:spPr>
            <a:xfrm flipH="1" rot="10800000">
              <a:off x="3503700" y="2122375"/>
              <a:ext cx="1068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6000"/>
                <a:t>💥</a:t>
              </a:r>
              <a:endParaRPr sz="6000"/>
            </a:p>
          </p:txBody>
        </p:sp>
        <p:pic>
          <p:nvPicPr>
            <p:cNvPr id="123" name="Google Shape;123;p19" title="Screenshot 2026-05-26 at 11.15.19.png"/>
            <p:cNvPicPr preferRelativeResize="0"/>
            <p:nvPr/>
          </p:nvPicPr>
          <p:blipFill>
            <a:blip r:embed="rId5">
              <a:alphaModFix/>
            </a:blip>
            <a:stretch>
              <a:fillRect/>
            </a:stretch>
          </p:blipFill>
          <p:spPr>
            <a:xfrm>
              <a:off x="1681525" y="1877623"/>
              <a:ext cx="453853" cy="6465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grpSp>
        <p:nvGrpSpPr>
          <p:cNvPr id="129" name="Google Shape;129;p20"/>
          <p:cNvGrpSpPr/>
          <p:nvPr/>
        </p:nvGrpSpPr>
        <p:grpSpPr>
          <a:xfrm>
            <a:off x="930696" y="431994"/>
            <a:ext cx="7644051" cy="5257435"/>
            <a:chOff x="-1046204" y="431994"/>
            <a:chExt cx="7644051" cy="5257435"/>
          </a:xfrm>
        </p:grpSpPr>
        <p:pic>
          <p:nvPicPr>
            <p:cNvPr id="130" name="Google Shape;130;p20"/>
            <p:cNvPicPr preferRelativeResize="0"/>
            <p:nvPr/>
          </p:nvPicPr>
          <p:blipFill>
            <a:blip r:embed="rId3">
              <a:alphaModFix/>
            </a:blip>
            <a:stretch>
              <a:fillRect/>
            </a:stretch>
          </p:blipFill>
          <p:spPr>
            <a:xfrm rot="-3612121">
              <a:off x="-861326" y="1582375"/>
              <a:ext cx="4365302" cy="2956674"/>
            </a:xfrm>
            <a:prstGeom prst="rect">
              <a:avLst/>
            </a:prstGeom>
            <a:noFill/>
            <a:ln>
              <a:noFill/>
            </a:ln>
          </p:spPr>
        </p:pic>
        <p:pic>
          <p:nvPicPr>
            <p:cNvPr id="131" name="Google Shape;131;p20" title="Screenshot 2026-05-26 at 11.23.32.png"/>
            <p:cNvPicPr preferRelativeResize="0"/>
            <p:nvPr/>
          </p:nvPicPr>
          <p:blipFill>
            <a:blip r:embed="rId4">
              <a:alphaModFix/>
            </a:blip>
            <a:stretch>
              <a:fillRect/>
            </a:stretch>
          </p:blipFill>
          <p:spPr>
            <a:xfrm>
              <a:off x="1959475" y="1033325"/>
              <a:ext cx="2194179" cy="2812250"/>
            </a:xfrm>
            <a:prstGeom prst="rect">
              <a:avLst/>
            </a:prstGeom>
            <a:noFill/>
            <a:ln>
              <a:noFill/>
            </a:ln>
          </p:spPr>
        </p:pic>
        <p:sp>
          <p:nvSpPr>
            <p:cNvPr id="132" name="Google Shape;132;p20"/>
            <p:cNvSpPr/>
            <p:nvPr/>
          </p:nvSpPr>
          <p:spPr>
            <a:xfrm>
              <a:off x="3721744" y="3653291"/>
              <a:ext cx="501600" cy="192300"/>
            </a:xfrm>
            <a:prstGeom prst="rect">
              <a:avLst/>
            </a:prstGeom>
            <a:solidFill>
              <a:schemeClr val="lt1"/>
            </a:solidFill>
            <a:ln cap="flat" cmpd="sng" w="8700">
              <a:solidFill>
                <a:schemeClr val="lt1"/>
              </a:solidFill>
              <a:prstDash val="solid"/>
              <a:round/>
              <a:headEnd len="sm" w="sm" type="none"/>
              <a:tailEnd len="sm" w="sm" type="none"/>
            </a:ln>
          </p:spPr>
          <p:txBody>
            <a:bodyPr anchorCtr="0" anchor="ctr" bIns="83575" lIns="83575" spcFirstLastPara="1" rIns="83575" wrap="square" tIns="83575">
              <a:noAutofit/>
            </a:bodyPr>
            <a:lstStyle/>
            <a:p>
              <a:pPr indent="0" lvl="0" marL="0" rtl="0" algn="ctr">
                <a:spcBef>
                  <a:spcPts val="0"/>
                </a:spcBef>
                <a:spcAft>
                  <a:spcPts val="0"/>
                </a:spcAft>
                <a:buNone/>
              </a:pPr>
              <a:r>
                <a:t/>
              </a:r>
              <a:endParaRPr sz="1280">
                <a:latin typeface="Roboto"/>
                <a:ea typeface="Roboto"/>
                <a:cs typeface="Roboto"/>
                <a:sym typeface="Roboto"/>
              </a:endParaRPr>
            </a:p>
          </p:txBody>
        </p:sp>
        <p:pic>
          <p:nvPicPr>
            <p:cNvPr id="133" name="Google Shape;133;p20" title="Screenshot 2026-05-26 at 11.24.43.png"/>
            <p:cNvPicPr preferRelativeResize="0"/>
            <p:nvPr/>
          </p:nvPicPr>
          <p:blipFill>
            <a:blip r:embed="rId5">
              <a:alphaModFix/>
            </a:blip>
            <a:stretch>
              <a:fillRect/>
            </a:stretch>
          </p:blipFill>
          <p:spPr>
            <a:xfrm>
              <a:off x="4153648" y="897925"/>
              <a:ext cx="2394420" cy="2614675"/>
            </a:xfrm>
            <a:prstGeom prst="rect">
              <a:avLst/>
            </a:prstGeom>
            <a:noFill/>
            <a:ln>
              <a:noFill/>
            </a:ln>
          </p:spPr>
        </p:pic>
        <p:sp>
          <p:nvSpPr>
            <p:cNvPr id="134" name="Google Shape;134;p20"/>
            <p:cNvSpPr/>
            <p:nvPr/>
          </p:nvSpPr>
          <p:spPr>
            <a:xfrm>
              <a:off x="6359947" y="2876447"/>
              <a:ext cx="237900" cy="646500"/>
            </a:xfrm>
            <a:prstGeom prst="rect">
              <a:avLst/>
            </a:prstGeom>
            <a:solidFill>
              <a:schemeClr val="lt1"/>
            </a:solidFill>
            <a:ln cap="flat" cmpd="sng" w="8700">
              <a:solidFill>
                <a:schemeClr val="lt1"/>
              </a:solidFill>
              <a:prstDash val="solid"/>
              <a:round/>
              <a:headEnd len="sm" w="sm" type="none"/>
              <a:tailEnd len="sm" w="sm" type="none"/>
            </a:ln>
          </p:spPr>
          <p:txBody>
            <a:bodyPr anchorCtr="0" anchor="ctr" bIns="83575" lIns="83575" spcFirstLastPara="1" rIns="83575" wrap="square" tIns="83575">
              <a:noAutofit/>
            </a:bodyPr>
            <a:lstStyle/>
            <a:p>
              <a:pPr indent="0" lvl="0" marL="0" rtl="0" algn="ctr">
                <a:spcBef>
                  <a:spcPts val="0"/>
                </a:spcBef>
                <a:spcAft>
                  <a:spcPts val="0"/>
                </a:spcAft>
                <a:buNone/>
              </a:pPr>
              <a:r>
                <a:t/>
              </a:r>
              <a:endParaRPr sz="1280">
                <a:latin typeface="Roboto"/>
                <a:ea typeface="Roboto"/>
                <a:cs typeface="Roboto"/>
                <a:sym typeface="Roboto"/>
              </a:endParaRPr>
            </a:p>
          </p:txBody>
        </p:sp>
        <p:sp>
          <p:nvSpPr>
            <p:cNvPr id="135" name="Google Shape;135;p20"/>
            <p:cNvSpPr/>
            <p:nvPr/>
          </p:nvSpPr>
          <p:spPr>
            <a:xfrm rot="-5399124">
              <a:off x="309972" y="3825488"/>
              <a:ext cx="1176900" cy="571800"/>
            </a:xfrm>
            <a:prstGeom prst="roundRect">
              <a:avLst>
                <a:gd fmla="val 16667" name="adj"/>
              </a:avLst>
            </a:prstGeom>
            <a:solidFill>
              <a:srgbClr val="F4CCCC"/>
            </a:solid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Roboto"/>
                  <a:ea typeface="Roboto"/>
                  <a:cs typeface="Roboto"/>
                  <a:sym typeface="Roboto"/>
                </a:rPr>
                <a:t>Battery</a:t>
              </a:r>
              <a:endParaRPr>
                <a:latin typeface="Roboto"/>
                <a:ea typeface="Roboto"/>
                <a:cs typeface="Roboto"/>
                <a:sym typeface="Roboto"/>
              </a:endParaRPr>
            </a:p>
          </p:txBody>
        </p:sp>
        <p:cxnSp>
          <p:nvCxnSpPr>
            <p:cNvPr id="136" name="Google Shape;136;p20"/>
            <p:cNvCxnSpPr/>
            <p:nvPr/>
          </p:nvCxnSpPr>
          <p:spPr>
            <a:xfrm flipH="1" rot="10800000">
              <a:off x="1184475" y="4111250"/>
              <a:ext cx="1094700" cy="300"/>
            </a:xfrm>
            <a:prstGeom prst="straightConnector1">
              <a:avLst/>
            </a:prstGeom>
            <a:noFill/>
            <a:ln cap="flat" cmpd="sng" w="19050">
              <a:solidFill>
                <a:srgbClr val="999999"/>
              </a:solidFill>
              <a:prstDash val="solid"/>
              <a:round/>
              <a:headEnd len="med" w="med" type="none"/>
              <a:tailEnd len="med" w="med" type="none"/>
            </a:ln>
          </p:spPr>
        </p:cxnSp>
        <p:pic>
          <p:nvPicPr>
            <p:cNvPr id="137" name="Google Shape;137;p20" title="Screenshot 2026-05-26 at 11.26.55.png"/>
            <p:cNvPicPr preferRelativeResize="0"/>
            <p:nvPr/>
          </p:nvPicPr>
          <p:blipFill>
            <a:blip r:embed="rId6">
              <a:alphaModFix/>
            </a:blip>
            <a:stretch>
              <a:fillRect/>
            </a:stretch>
          </p:blipFill>
          <p:spPr>
            <a:xfrm>
              <a:off x="2279500" y="3922430"/>
              <a:ext cx="548700" cy="1023995"/>
            </a:xfrm>
            <a:prstGeom prst="rect">
              <a:avLst/>
            </a:prstGeom>
            <a:noFill/>
            <a:ln>
              <a:noFill/>
            </a:ln>
          </p:spPr>
        </p:pic>
        <p:pic>
          <p:nvPicPr>
            <p:cNvPr id="138" name="Google Shape;138;p20" title="Screenshot 2026-05-26 at 11.27.35.png"/>
            <p:cNvPicPr preferRelativeResize="0"/>
            <p:nvPr/>
          </p:nvPicPr>
          <p:blipFill>
            <a:blip r:embed="rId7">
              <a:alphaModFix/>
            </a:blip>
            <a:stretch>
              <a:fillRect/>
            </a:stretch>
          </p:blipFill>
          <p:spPr>
            <a:xfrm>
              <a:off x="2989325" y="3968151"/>
              <a:ext cx="1164326" cy="532025"/>
            </a:xfrm>
            <a:prstGeom prst="rect">
              <a:avLst/>
            </a:prstGeom>
            <a:noFill/>
            <a:ln>
              <a:noFill/>
            </a:ln>
          </p:spPr>
        </p:pic>
        <p:cxnSp>
          <p:nvCxnSpPr>
            <p:cNvPr id="139" name="Google Shape;139;p20"/>
            <p:cNvCxnSpPr/>
            <p:nvPr/>
          </p:nvCxnSpPr>
          <p:spPr>
            <a:xfrm flipH="1" rot="10800000">
              <a:off x="3857394" y="3423341"/>
              <a:ext cx="587100" cy="544800"/>
            </a:xfrm>
            <a:prstGeom prst="bentConnector3">
              <a:avLst>
                <a:gd fmla="val 50000" name="adj1"/>
              </a:avLst>
            </a:prstGeom>
            <a:noFill/>
            <a:ln cap="flat" cmpd="sng" w="19050">
              <a:solidFill>
                <a:schemeClr val="lt2"/>
              </a:solidFill>
              <a:prstDash val="solid"/>
              <a:round/>
              <a:headEnd len="med" w="med" type="none"/>
              <a:tailEnd len="med" w="med" type="none"/>
            </a:ln>
          </p:spPr>
        </p:cxnSp>
        <p:sp>
          <p:nvSpPr>
            <p:cNvPr id="140" name="Google Shape;140;p20"/>
            <p:cNvSpPr/>
            <p:nvPr/>
          </p:nvSpPr>
          <p:spPr>
            <a:xfrm rot="5400000">
              <a:off x="4355700" y="3387925"/>
              <a:ext cx="104100" cy="73500"/>
            </a:xfrm>
            <a:prstGeom prst="triangle">
              <a:avLst>
                <a:gd fmla="val 50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1" name="Google Shape;141;p20"/>
            <p:cNvSpPr/>
            <p:nvPr/>
          </p:nvSpPr>
          <p:spPr>
            <a:xfrm flipH="1" rot="-5400000">
              <a:off x="3652400" y="2775875"/>
              <a:ext cx="1384200" cy="2857500"/>
            </a:xfrm>
            <a:prstGeom prst="bentUpArrow">
              <a:avLst>
                <a:gd fmla="val 5193" name="adj1"/>
                <a:gd fmla="val 6831" name="adj2"/>
                <a:gd fmla="val 22723" name="adj3"/>
              </a:avLst>
            </a:prstGeom>
            <a:solidFill>
              <a:srgbClr val="FF00FF"/>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 name="Google Shape;142;p20"/>
            <p:cNvSpPr/>
            <p:nvPr/>
          </p:nvSpPr>
          <p:spPr>
            <a:xfrm>
              <a:off x="6233802" y="2116200"/>
              <a:ext cx="363900" cy="646500"/>
            </a:xfrm>
            <a:prstGeom prst="rect">
              <a:avLst/>
            </a:prstGeom>
            <a:solidFill>
              <a:schemeClr val="lt1"/>
            </a:solidFill>
            <a:ln cap="flat" cmpd="sng" w="8700">
              <a:solidFill>
                <a:schemeClr val="lt1"/>
              </a:solidFill>
              <a:prstDash val="solid"/>
              <a:round/>
              <a:headEnd len="sm" w="sm" type="none"/>
              <a:tailEnd len="sm" w="sm" type="none"/>
            </a:ln>
          </p:spPr>
          <p:txBody>
            <a:bodyPr anchorCtr="0" anchor="ctr" bIns="83575" lIns="83575" spcFirstLastPara="1" rIns="83575" wrap="square" tIns="83575">
              <a:noAutofit/>
            </a:bodyPr>
            <a:lstStyle/>
            <a:p>
              <a:pPr indent="0" lvl="0" marL="0" rtl="0" algn="ctr">
                <a:spcBef>
                  <a:spcPts val="0"/>
                </a:spcBef>
                <a:spcAft>
                  <a:spcPts val="0"/>
                </a:spcAft>
                <a:buNone/>
              </a:pPr>
              <a:r>
                <a:t/>
              </a:r>
              <a:endParaRPr sz="1280">
                <a:latin typeface="Roboto"/>
                <a:ea typeface="Roboto"/>
                <a:cs typeface="Roboto"/>
                <a:sym typeface="Roboto"/>
              </a:endParaRPr>
            </a:p>
          </p:txBody>
        </p:sp>
        <p:cxnSp>
          <p:nvCxnSpPr>
            <p:cNvPr id="143" name="Google Shape;143;p20"/>
            <p:cNvCxnSpPr>
              <a:endCxn id="138" idx="1"/>
            </p:cNvCxnSpPr>
            <p:nvPr/>
          </p:nvCxnSpPr>
          <p:spPr>
            <a:xfrm flipH="1" rot="10800000">
              <a:off x="2825825" y="4234163"/>
              <a:ext cx="163500" cy="6300"/>
            </a:xfrm>
            <a:prstGeom prst="straightConnector1">
              <a:avLst/>
            </a:prstGeom>
            <a:noFill/>
            <a:ln cap="flat" cmpd="sng" w="19050">
              <a:solidFill>
                <a:srgbClr val="999999"/>
              </a:solidFill>
              <a:prstDash val="solid"/>
              <a:round/>
              <a:headEnd len="med" w="med" type="none"/>
              <a:tailEnd len="med" w="med" type="none"/>
            </a:ln>
          </p:spPr>
        </p:cxnSp>
      </p:grpSp>
      <p:sp>
        <p:nvSpPr>
          <p:cNvPr id="144" name="Google Shape;144;p20"/>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Solution Visualisation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275550" y="526350"/>
            <a:ext cx="8196900" cy="4090800"/>
          </a:xfrm>
          <a:prstGeom prst="rect">
            <a:avLst/>
          </a:prstGeom>
        </p:spPr>
        <p:txBody>
          <a:bodyPr anchorCtr="0" anchor="ctr" bIns="91425" lIns="91425" spcFirstLastPara="1" rIns="91425" wrap="square" tIns="91425">
            <a:normAutofit/>
          </a:bodyPr>
          <a:lstStyle/>
          <a:p>
            <a:pPr indent="0" lvl="0" marL="0" rtl="0" algn="ctr">
              <a:lnSpc>
                <a:spcPct val="115000"/>
              </a:lnSpc>
              <a:spcBef>
                <a:spcPts val="1200"/>
              </a:spcBef>
              <a:spcAft>
                <a:spcPts val="1200"/>
              </a:spcAft>
              <a:buNone/>
            </a:pPr>
            <a:r>
              <a:rPr lang="fr" sz="4200">
                <a:latin typeface="Roboto Black"/>
                <a:ea typeface="Roboto Black"/>
                <a:cs typeface="Roboto Black"/>
                <a:sym typeface="Roboto Black"/>
              </a:rPr>
              <a:t>2. Hardware &amp; Component Selection</a:t>
            </a:r>
            <a:endParaRPr sz="4200">
              <a:latin typeface="Roboto Black"/>
              <a:ea typeface="Roboto Black"/>
              <a:cs typeface="Roboto Black"/>
              <a:sym typeface="Roboto Black"/>
            </a:endParaRPr>
          </a:p>
        </p:txBody>
      </p:sp>
      <p:sp>
        <p:nvSpPr>
          <p:cNvPr id="150" name="Google Shape;150;p21"/>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Component wise limits</a:t>
            </a:r>
            <a:endParaRPr/>
          </a:p>
        </p:txBody>
      </p:sp>
      <p:sp>
        <p:nvSpPr>
          <p:cNvPr id="156" name="Google Shape;156;p22"/>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graphicFrame>
        <p:nvGraphicFramePr>
          <p:cNvPr id="157" name="Google Shape;157;p22"/>
          <p:cNvGraphicFramePr/>
          <p:nvPr/>
        </p:nvGraphicFramePr>
        <p:xfrm>
          <a:off x="440325" y="1565100"/>
          <a:ext cx="3000000" cy="3000000"/>
        </p:xfrm>
        <a:graphic>
          <a:graphicData uri="http://schemas.openxmlformats.org/drawingml/2006/table">
            <a:tbl>
              <a:tblPr>
                <a:noFill/>
                <a:tableStyleId>{2CFBB0A3-DA2B-4892-95B8-72DDE60E4E35}</a:tableStyleId>
              </a:tblPr>
              <a:tblGrid>
                <a:gridCol w="2115400"/>
                <a:gridCol w="2452425"/>
                <a:gridCol w="3500825"/>
              </a:tblGrid>
              <a:tr h="391100">
                <a:tc>
                  <a:txBody>
                    <a:bodyPr/>
                    <a:lstStyle/>
                    <a:p>
                      <a:pPr indent="0" lvl="0" marL="0" rtl="0" algn="l">
                        <a:spcBef>
                          <a:spcPts val="0"/>
                        </a:spcBef>
                        <a:spcAft>
                          <a:spcPts val="0"/>
                        </a:spcAft>
                        <a:buNone/>
                      </a:pPr>
                      <a:r>
                        <a:rPr b="1" lang="fr"/>
                        <a:t>Component</a:t>
                      </a:r>
                      <a:endParaRPr b="1"/>
                    </a:p>
                  </a:txBody>
                  <a:tcPr marT="91425" marB="91425" marR="91425" marL="91425"/>
                </a:tc>
                <a:tc>
                  <a:txBody>
                    <a:bodyPr/>
                    <a:lstStyle/>
                    <a:p>
                      <a:pPr indent="0" lvl="0" marL="0" rtl="0" algn="l">
                        <a:spcBef>
                          <a:spcPts val="0"/>
                        </a:spcBef>
                        <a:spcAft>
                          <a:spcPts val="0"/>
                        </a:spcAft>
                        <a:buNone/>
                      </a:pPr>
                      <a:r>
                        <a:rPr b="1" lang="fr"/>
                        <a:t>Range</a:t>
                      </a:r>
                      <a:endParaRPr b="1"/>
                    </a:p>
                  </a:txBody>
                  <a:tcPr marT="91425" marB="91425" marR="91425" marL="91425"/>
                </a:tc>
                <a:tc>
                  <a:txBody>
                    <a:bodyPr/>
                    <a:lstStyle/>
                    <a:p>
                      <a:pPr indent="0" lvl="0" marL="0" rtl="0" algn="l">
                        <a:spcBef>
                          <a:spcPts val="0"/>
                        </a:spcBef>
                        <a:spcAft>
                          <a:spcPts val="0"/>
                        </a:spcAft>
                        <a:buNone/>
                      </a:pPr>
                      <a:r>
                        <a:rPr b="1" lang="fr"/>
                        <a:t>Source</a:t>
                      </a:r>
                      <a:endParaRPr b="1"/>
                    </a:p>
                  </a:txBody>
                  <a:tcPr marT="91425" marB="91425" marR="91425" marL="91425"/>
                </a:tc>
              </a:tr>
              <a:tr h="391100">
                <a:tc>
                  <a:txBody>
                    <a:bodyPr/>
                    <a:lstStyle/>
                    <a:p>
                      <a:pPr indent="0" lvl="0" marL="0" rtl="0" algn="l">
                        <a:spcBef>
                          <a:spcPts val="0"/>
                        </a:spcBef>
                        <a:spcAft>
                          <a:spcPts val="0"/>
                        </a:spcAft>
                        <a:buNone/>
                      </a:pPr>
                      <a:r>
                        <a:rPr lang="fr"/>
                        <a:t>Battery</a:t>
                      </a:r>
                      <a:endParaRPr/>
                    </a:p>
                  </a:txBody>
                  <a:tcPr marT="91425" marB="91425" marR="91425" marL="91425"/>
                </a:tc>
                <a:tc>
                  <a:txBody>
                    <a:bodyPr/>
                    <a:lstStyle/>
                    <a:p>
                      <a:pPr indent="0" lvl="0" marL="0" rtl="0" algn="l">
                        <a:spcBef>
                          <a:spcPts val="0"/>
                        </a:spcBef>
                        <a:spcAft>
                          <a:spcPts val="0"/>
                        </a:spcAft>
                        <a:buNone/>
                      </a:pPr>
                      <a:r>
                        <a:rPr lang="fr"/>
                        <a:t>0 to 60°C (45 from QMS</a:t>
                      </a:r>
                      <a:endParaRPr/>
                    </a:p>
                  </a:txBody>
                  <a:tcPr marT="91425" marB="91425" marR="91425" marL="91425"/>
                </a:tc>
                <a:tc>
                  <a:txBody>
                    <a:bodyPr/>
                    <a:lstStyle/>
                    <a:p>
                      <a:pPr indent="0" lvl="0" marL="0" rtl="0" algn="l">
                        <a:spcBef>
                          <a:spcPts val="0"/>
                        </a:spcBef>
                        <a:spcAft>
                          <a:spcPts val="0"/>
                        </a:spcAft>
                        <a:buNone/>
                      </a:pPr>
                      <a:r>
                        <a:rPr lang="fr"/>
                        <a:t>QMS </a:t>
                      </a:r>
                      <a:r>
                        <a:rPr lang="fr"/>
                        <a:t>(manifacturer recomendation)</a:t>
                      </a:r>
                      <a:endParaRPr/>
                    </a:p>
                  </a:txBody>
                  <a:tcPr marT="91425" marB="91425" marR="91425" marL="91425"/>
                </a:tc>
              </a:tr>
              <a:tr h="391100">
                <a:tc>
                  <a:txBody>
                    <a:bodyPr/>
                    <a:lstStyle/>
                    <a:p>
                      <a:pPr indent="0" lvl="0" marL="0" rtl="0" algn="l">
                        <a:spcBef>
                          <a:spcPts val="0"/>
                        </a:spcBef>
                        <a:spcAft>
                          <a:spcPts val="0"/>
                        </a:spcAft>
                        <a:buNone/>
                      </a:pPr>
                      <a:r>
                        <a:rPr lang="fr"/>
                        <a:t>Motor casing</a:t>
                      </a:r>
                      <a:endParaRPr/>
                    </a:p>
                  </a:txBody>
                  <a:tcPr marT="91425" marB="91425" marR="91425" marL="91425"/>
                </a:tc>
                <a:tc>
                  <a:txBody>
                    <a:bodyPr/>
                    <a:lstStyle/>
                    <a:p>
                      <a:pPr indent="0" lvl="0" marL="0" rtl="0" algn="l">
                        <a:spcBef>
                          <a:spcPts val="0"/>
                        </a:spcBef>
                        <a:spcAft>
                          <a:spcPts val="0"/>
                        </a:spcAft>
                        <a:buNone/>
                      </a:pPr>
                      <a:r>
                        <a:rPr lang="fr"/>
                        <a:t>-10 to 8</a:t>
                      </a:r>
                      <a:r>
                        <a:rPr lang="fr"/>
                        <a:t>0</a:t>
                      </a:r>
                      <a:r>
                        <a:rPr lang="fr"/>
                        <a:t> °C</a:t>
                      </a:r>
                      <a:endParaRPr/>
                    </a:p>
                  </a:txBody>
                  <a:tcPr marT="91425" marB="91425" marR="91425" marL="91425"/>
                </a:tc>
                <a:tc>
                  <a:txBody>
                    <a:bodyPr/>
                    <a:lstStyle/>
                    <a:p>
                      <a:pPr indent="0" lvl="0" marL="0" rtl="0" algn="l">
                        <a:spcBef>
                          <a:spcPts val="0"/>
                        </a:spcBef>
                        <a:spcAft>
                          <a:spcPts val="0"/>
                        </a:spcAft>
                        <a:buNone/>
                      </a:pPr>
                      <a:r>
                        <a:rPr lang="fr"/>
                        <a:t>Datasheet</a:t>
                      </a:r>
                      <a:endParaRPr/>
                    </a:p>
                  </a:txBody>
                  <a:tcPr marT="91425" marB="91425" marR="91425" marL="91425"/>
                </a:tc>
              </a:tr>
              <a:tr h="391100">
                <a:tc>
                  <a:txBody>
                    <a:bodyPr/>
                    <a:lstStyle/>
                    <a:p>
                      <a:pPr indent="0" lvl="0" marL="0" rtl="0" algn="l">
                        <a:spcBef>
                          <a:spcPts val="0"/>
                        </a:spcBef>
                        <a:spcAft>
                          <a:spcPts val="0"/>
                        </a:spcAft>
                        <a:buNone/>
                      </a:pPr>
                      <a:r>
                        <a:rPr lang="fr"/>
                        <a:t>Electronics</a:t>
                      </a:r>
                      <a:endParaRPr/>
                    </a:p>
                  </a:txBody>
                  <a:tcPr marT="91425" marB="91425" marR="91425" marL="91425"/>
                </a:tc>
                <a:tc>
                  <a:txBody>
                    <a:bodyPr/>
                    <a:lstStyle/>
                    <a:p>
                      <a:pPr indent="0" lvl="0" marL="0" rtl="0" algn="l">
                        <a:spcBef>
                          <a:spcPts val="0"/>
                        </a:spcBef>
                        <a:spcAft>
                          <a:spcPts val="0"/>
                        </a:spcAft>
                        <a:buNone/>
                      </a:pPr>
                      <a:r>
                        <a:rPr lang="fr"/>
                        <a:t>-40 to 85 °C</a:t>
                      </a:r>
                      <a:endParaRPr/>
                    </a:p>
                  </a:txBody>
                  <a:tcPr marT="91425" marB="91425" marR="91425" marL="91425"/>
                </a:tc>
                <a:tc>
                  <a:txBody>
                    <a:bodyPr/>
                    <a:lstStyle/>
                    <a:p>
                      <a:pPr indent="0" lvl="0" marL="0" rtl="0" algn="l">
                        <a:spcBef>
                          <a:spcPts val="0"/>
                        </a:spcBef>
                        <a:spcAft>
                          <a:spcPts val="0"/>
                        </a:spcAft>
                        <a:buNone/>
                      </a:pPr>
                      <a:r>
                        <a:rPr lang="fr"/>
                        <a:t>Different sources, general electronics safety</a:t>
                      </a:r>
                      <a:endParaRPr/>
                    </a:p>
                  </a:txBody>
                  <a:tcPr marT="91425" marB="91425" marR="91425" marL="91425"/>
                </a:tc>
              </a:tr>
              <a:tr h="391100">
                <a:tc>
                  <a:txBody>
                    <a:bodyPr/>
                    <a:lstStyle/>
                    <a:p>
                      <a:pPr indent="0" lvl="0" marL="0" rtl="0" algn="l">
                        <a:spcBef>
                          <a:spcPts val="0"/>
                        </a:spcBef>
                        <a:spcAft>
                          <a:spcPts val="0"/>
                        </a:spcAft>
                        <a:buNone/>
                      </a:pPr>
                      <a:r>
                        <a:rPr lang="fr"/>
                        <a:t>Socket</a:t>
                      </a:r>
                      <a:endParaRPr/>
                    </a:p>
                  </a:txBody>
                  <a:tcPr marT="91425" marB="91425" marR="91425" marL="91425"/>
                </a:tc>
                <a:tc>
                  <a:txBody>
                    <a:bodyPr/>
                    <a:lstStyle/>
                    <a:p>
                      <a:pPr indent="0" lvl="0" marL="0" rtl="0" algn="l">
                        <a:spcBef>
                          <a:spcPts val="0"/>
                        </a:spcBef>
                        <a:spcAft>
                          <a:spcPts val="0"/>
                        </a:spcAft>
                        <a:buNone/>
                      </a:pPr>
                      <a:r>
                        <a:rPr lang="fr"/>
                        <a:t>max 41°C on skin</a:t>
                      </a:r>
                      <a:endParaRPr/>
                    </a:p>
                  </a:txBody>
                  <a:tcPr marT="91425" marB="91425" marR="91425" marL="91425"/>
                </a:tc>
                <a:tc>
                  <a:txBody>
                    <a:bodyPr/>
                    <a:lstStyle/>
                    <a:p>
                      <a:pPr indent="0" lvl="0" marL="0" rtl="0" algn="l">
                        <a:spcBef>
                          <a:spcPts val="0"/>
                        </a:spcBef>
                        <a:spcAft>
                          <a:spcPts val="0"/>
                        </a:spcAft>
                        <a:buNone/>
                      </a:pPr>
                      <a:r>
                        <a:rPr lang="fr"/>
                        <a:t>Medical device safety</a:t>
                      </a:r>
                      <a:endParaRPr/>
                    </a:p>
                  </a:txBody>
                  <a:tcPr marT="91425" marB="91425" marR="91425" marL="91425"/>
                </a:tc>
              </a:tr>
              <a:tr h="356000">
                <a:tc>
                  <a:txBody>
                    <a:bodyPr/>
                    <a:lstStyle/>
                    <a:p>
                      <a:pPr indent="0" lvl="0" marL="0" rtl="0" algn="l">
                        <a:spcBef>
                          <a:spcPts val="0"/>
                        </a:spcBef>
                        <a:spcAft>
                          <a:spcPts val="0"/>
                        </a:spcAft>
                        <a:buNone/>
                      </a:pPr>
                      <a:r>
                        <a:rPr lang="fr"/>
                        <a:t>Shock</a:t>
                      </a:r>
                      <a:endParaRPr/>
                    </a:p>
                  </a:txBody>
                  <a:tcPr marT="91425" marB="91425" marR="91425" marL="91425"/>
                </a:tc>
                <a:tc>
                  <a:txBody>
                    <a:bodyPr/>
                    <a:lstStyle/>
                    <a:p>
                      <a:pPr indent="0" lvl="0" marL="0" rtl="0" algn="l">
                        <a:spcBef>
                          <a:spcPts val="0"/>
                        </a:spcBef>
                        <a:spcAft>
                          <a:spcPts val="0"/>
                        </a:spcAft>
                        <a:buNone/>
                      </a:pPr>
                      <a:r>
                        <a:rPr lang="fr"/>
                        <a:t>16g</a:t>
                      </a:r>
                      <a:endParaRPr/>
                    </a:p>
                  </a:txBody>
                  <a:tcPr marT="91425" marB="91425" marR="91425" marL="91425"/>
                </a:tc>
                <a:tc>
                  <a:txBody>
                    <a:bodyPr/>
                    <a:lstStyle/>
                    <a:p>
                      <a:pPr indent="0" lvl="0" marL="0" rtl="0" algn="l">
                        <a:spcBef>
                          <a:spcPts val="0"/>
                        </a:spcBef>
                        <a:spcAft>
                          <a:spcPts val="0"/>
                        </a:spcAft>
                        <a:buNone/>
                      </a:pPr>
                      <a:r>
                        <a:rPr lang="fr"/>
                        <a:t>Chosen</a:t>
                      </a:r>
                      <a:endParaRPr/>
                    </a:p>
                  </a:txBody>
                  <a:tcPr marT="91425" marB="91425" marR="91425" marL="91425"/>
                </a:tc>
              </a:tr>
              <a:tr h="391100">
                <a:tc>
                  <a:txBody>
                    <a:bodyPr/>
                    <a:lstStyle/>
                    <a:p>
                      <a:pPr indent="0" lvl="0" marL="0" rtl="0" algn="l">
                        <a:spcBef>
                          <a:spcPts val="0"/>
                        </a:spcBef>
                        <a:spcAft>
                          <a:spcPts val="0"/>
                        </a:spcAft>
                        <a:buNone/>
                      </a:pPr>
                      <a:r>
                        <a:rPr lang="fr"/>
                        <a:t>Humidity</a:t>
                      </a:r>
                      <a:endParaRPr/>
                    </a:p>
                  </a:txBody>
                  <a:tcPr marT="91425" marB="91425" marR="91425" marL="91425"/>
                </a:tc>
                <a:tc>
                  <a:txBody>
                    <a:bodyPr/>
                    <a:lstStyle/>
                    <a:p>
                      <a:pPr indent="0" lvl="0" marL="0" rtl="0" algn="l">
                        <a:spcBef>
                          <a:spcPts val="0"/>
                        </a:spcBef>
                        <a:spcAft>
                          <a:spcPts val="0"/>
                        </a:spcAft>
                        <a:buNone/>
                      </a:pPr>
                      <a:r>
                        <a:rPr lang="fr"/>
                        <a:t>70% very safe</a:t>
                      </a:r>
                      <a:endParaRPr/>
                    </a:p>
                  </a:txBody>
                  <a:tcPr marT="91425" marB="91425" marR="91425" marL="91425"/>
                </a:tc>
                <a:tc>
                  <a:txBody>
                    <a:bodyPr/>
                    <a:lstStyle/>
                    <a:p>
                      <a:pPr indent="0" lvl="0" marL="0" rtl="0" algn="l">
                        <a:spcBef>
                          <a:spcPts val="0"/>
                        </a:spcBef>
                        <a:spcAft>
                          <a:spcPts val="0"/>
                        </a:spcAft>
                        <a:buNone/>
                      </a:pPr>
                      <a:r>
                        <a:rPr lang="fr"/>
                        <a:t>Different sources, general electronics safety</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Relative Humidity Sensor</a:t>
            </a:r>
            <a:endParaRPr/>
          </a:p>
        </p:txBody>
      </p:sp>
      <p:sp>
        <p:nvSpPr>
          <p:cNvPr id="163" name="Google Shape;163;p23"/>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64" name="Google Shape;164;p23"/>
          <p:cNvSpPr txBox="1"/>
          <p:nvPr>
            <p:ph idx="4294967295" type="body"/>
          </p:nvPr>
        </p:nvSpPr>
        <p:spPr>
          <a:xfrm>
            <a:off x="288000" y="1440000"/>
            <a:ext cx="3999900" cy="2754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Need : </a:t>
            </a:r>
            <a:endParaRPr/>
          </a:p>
          <a:p>
            <a:pPr indent="-342900" lvl="0" marL="457200" marR="0" rtl="0" algn="l">
              <a:lnSpc>
                <a:spcPct val="115000"/>
              </a:lnSpc>
              <a:spcBef>
                <a:spcPts val="1200"/>
              </a:spcBef>
              <a:spcAft>
                <a:spcPts val="0"/>
              </a:spcAft>
              <a:buSzPts val="1800"/>
              <a:buChar char="●"/>
            </a:pPr>
            <a:r>
              <a:rPr lang="fr"/>
              <a:t>Compact enough to fit inside the prosthetic enclosure</a:t>
            </a:r>
            <a:endParaRPr/>
          </a:p>
          <a:p>
            <a:pPr indent="-342900" lvl="0" marL="457200" marR="0" rtl="0" algn="l">
              <a:lnSpc>
                <a:spcPct val="115000"/>
              </a:lnSpc>
              <a:spcBef>
                <a:spcPts val="0"/>
              </a:spcBef>
              <a:spcAft>
                <a:spcPts val="0"/>
              </a:spcAft>
              <a:buSzPts val="1800"/>
              <a:buChar char="●"/>
            </a:pPr>
            <a:r>
              <a:rPr lang="fr"/>
              <a:t>Able to monitor humidity (up to 100%) as well as ambient temperature</a:t>
            </a:r>
            <a:endParaRPr/>
          </a:p>
          <a:p>
            <a:pPr indent="-342900" lvl="0" marL="457200" marR="0" rtl="0" algn="l">
              <a:lnSpc>
                <a:spcPct val="115000"/>
              </a:lnSpc>
              <a:spcBef>
                <a:spcPts val="0"/>
              </a:spcBef>
              <a:spcAft>
                <a:spcPts val="0"/>
              </a:spcAft>
              <a:buSzPts val="1800"/>
              <a:buChar char="●"/>
            </a:pPr>
            <a:r>
              <a:rPr lang="fr"/>
              <a:t>Easy to integrate into the existing I2C-based system</a:t>
            </a:r>
            <a:endParaRPr/>
          </a:p>
        </p:txBody>
      </p:sp>
      <p:sp>
        <p:nvSpPr>
          <p:cNvPr id="165" name="Google Shape;165;p23"/>
          <p:cNvSpPr txBox="1"/>
          <p:nvPr>
            <p:ph idx="4294967295" type="body"/>
          </p:nvPr>
        </p:nvSpPr>
        <p:spPr>
          <a:xfrm>
            <a:off x="4658550" y="1440000"/>
            <a:ext cx="3999900" cy="3519000"/>
          </a:xfrm>
          <a:prstGeom prst="rect">
            <a:avLst/>
          </a:prstGeom>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None/>
            </a:pPr>
            <a:r>
              <a:rPr lang="fr"/>
              <a:t>Ch</a:t>
            </a:r>
            <a:r>
              <a:rPr lang="fr"/>
              <a:t>osen sensors: </a:t>
            </a:r>
            <a:endParaRPr/>
          </a:p>
          <a:p>
            <a:pPr indent="0" lvl="0" marL="0" marR="0" rtl="0" algn="l">
              <a:lnSpc>
                <a:spcPct val="115000"/>
              </a:lnSpc>
              <a:spcBef>
                <a:spcPts val="1200"/>
              </a:spcBef>
              <a:spcAft>
                <a:spcPts val="0"/>
              </a:spcAft>
              <a:buNone/>
            </a:pPr>
            <a:r>
              <a:rPr lang="fr"/>
              <a:t>Adafruit SHT41 (inside arm, near electronics) </a:t>
            </a:r>
            <a:endParaRPr/>
          </a:p>
          <a:p>
            <a:pPr indent="-334328" lvl="0" marL="457200" marR="0" rtl="0" algn="l">
              <a:lnSpc>
                <a:spcPct val="115000"/>
              </a:lnSpc>
              <a:spcBef>
                <a:spcPts val="1200"/>
              </a:spcBef>
              <a:spcAft>
                <a:spcPts val="0"/>
              </a:spcAft>
              <a:buSzPct val="100000"/>
              <a:buChar char="●"/>
            </a:pPr>
            <a:r>
              <a:rPr lang="fr"/>
              <a:t>Measures relative humidity and temperature with high precision.</a:t>
            </a:r>
            <a:endParaRPr/>
          </a:p>
          <a:p>
            <a:pPr indent="-334328" lvl="0" marL="457200" marR="0" rtl="0" algn="l">
              <a:lnSpc>
                <a:spcPct val="115000"/>
              </a:lnSpc>
              <a:spcBef>
                <a:spcPts val="0"/>
              </a:spcBef>
              <a:spcAft>
                <a:spcPts val="0"/>
              </a:spcAft>
              <a:buSzPct val="100000"/>
              <a:buChar char="●"/>
            </a:pPr>
            <a:r>
              <a:rPr lang="fr"/>
              <a:t>Very low power consumption.</a:t>
            </a:r>
            <a:endParaRPr/>
          </a:p>
          <a:p>
            <a:pPr indent="-334328" lvl="0" marL="457200" marR="0" rtl="0" algn="l">
              <a:lnSpc>
                <a:spcPct val="115000"/>
              </a:lnSpc>
              <a:spcBef>
                <a:spcPts val="0"/>
              </a:spcBef>
              <a:spcAft>
                <a:spcPts val="0"/>
              </a:spcAft>
              <a:buSzPct val="100000"/>
              <a:buChar char="●"/>
            </a:pPr>
            <a:r>
              <a:rPr lang="fr"/>
              <a:t>Suitable for enclosed spaces where moisture buildup may matter.</a:t>
            </a:r>
            <a:endParaRPr/>
          </a:p>
          <a:p>
            <a:pPr indent="0" lvl="0" marL="0" marR="0" rtl="0" algn="l">
              <a:lnSpc>
                <a:spcPct val="115000"/>
              </a:lnSpc>
              <a:spcBef>
                <a:spcPts val="1200"/>
              </a:spcBef>
              <a:spcAft>
                <a:spcPts val="0"/>
              </a:spcAft>
              <a:buNone/>
            </a:pPr>
            <a:r>
              <a:rPr lang="fr"/>
              <a:t>Adafruit Si7021 (Socket)</a:t>
            </a:r>
            <a:endParaRPr/>
          </a:p>
          <a:p>
            <a:pPr indent="-334328" lvl="0" marL="457200" marR="0" rtl="0" algn="l">
              <a:lnSpc>
                <a:spcPct val="115000"/>
              </a:lnSpc>
              <a:spcBef>
                <a:spcPts val="1200"/>
              </a:spcBef>
              <a:spcAft>
                <a:spcPts val="0"/>
              </a:spcAft>
              <a:buSzPct val="100000"/>
              <a:buChar char="●"/>
            </a:pPr>
            <a:r>
              <a:rPr lang="fr"/>
              <a:t>Idem with protective PTFE filter (for more exposed usage at socket)</a:t>
            </a:r>
            <a:endParaRPr/>
          </a:p>
        </p:txBody>
      </p:sp>
      <p:pic>
        <p:nvPicPr>
          <p:cNvPr id="166" name="Google Shape;166;p23" title="Screenshot 2026-05-20 at 23.05.11.png"/>
          <p:cNvPicPr preferRelativeResize="0"/>
          <p:nvPr/>
        </p:nvPicPr>
        <p:blipFill>
          <a:blip r:embed="rId3">
            <a:alphaModFix/>
          </a:blip>
          <a:stretch>
            <a:fillRect/>
          </a:stretch>
        </p:blipFill>
        <p:spPr>
          <a:xfrm>
            <a:off x="6940225" y="169314"/>
            <a:ext cx="1594800" cy="1156835"/>
          </a:xfrm>
          <a:prstGeom prst="rect">
            <a:avLst/>
          </a:prstGeom>
          <a:noFill/>
          <a:ln>
            <a:noFill/>
          </a:ln>
        </p:spPr>
      </p:pic>
      <p:pic>
        <p:nvPicPr>
          <p:cNvPr id="167" name="Google Shape;167;p23" title="Screenshot 2026-05-20 at 23.05.47.png"/>
          <p:cNvPicPr preferRelativeResize="0"/>
          <p:nvPr/>
        </p:nvPicPr>
        <p:blipFill>
          <a:blip r:embed="rId4">
            <a:alphaModFix/>
          </a:blip>
          <a:stretch>
            <a:fillRect/>
          </a:stretch>
        </p:blipFill>
        <p:spPr>
          <a:xfrm>
            <a:off x="5145925" y="176550"/>
            <a:ext cx="1594800" cy="1149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marR="0" rtl="0" algn="l">
              <a:lnSpc>
                <a:spcPct val="100000"/>
              </a:lnSpc>
              <a:spcBef>
                <a:spcPts val="0"/>
              </a:spcBef>
              <a:spcAft>
                <a:spcPts val="0"/>
              </a:spcAft>
              <a:buNone/>
            </a:pPr>
            <a:r>
              <a:rPr lang="fr"/>
              <a:t>Current Sensor</a:t>
            </a:r>
            <a:endParaRPr/>
          </a:p>
        </p:txBody>
      </p:sp>
      <p:sp>
        <p:nvSpPr>
          <p:cNvPr id="173" name="Google Shape;173;p24"/>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74" name="Google Shape;174;p24"/>
          <p:cNvSpPr txBox="1"/>
          <p:nvPr>
            <p:ph idx="4294967295" type="body"/>
          </p:nvPr>
        </p:nvSpPr>
        <p:spPr>
          <a:xfrm>
            <a:off x="288000" y="1440000"/>
            <a:ext cx="4137300" cy="3096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Need : </a:t>
            </a:r>
            <a:endParaRPr/>
          </a:p>
          <a:p>
            <a:pPr indent="-342900" lvl="0" marL="457200" marR="0" rtl="0" algn="l">
              <a:lnSpc>
                <a:spcPct val="115000"/>
              </a:lnSpc>
              <a:spcBef>
                <a:spcPts val="1200"/>
              </a:spcBef>
              <a:spcAft>
                <a:spcPts val="0"/>
              </a:spcAft>
              <a:buSzPts val="1800"/>
              <a:buChar char="●"/>
            </a:pPr>
            <a:r>
              <a:rPr lang="fr"/>
              <a:t>Must monitor battery current in real time.</a:t>
            </a:r>
            <a:endParaRPr/>
          </a:p>
          <a:p>
            <a:pPr indent="-342900" lvl="0" marL="457200" marR="0" rtl="0" algn="l">
              <a:lnSpc>
                <a:spcPct val="115000"/>
              </a:lnSpc>
              <a:spcBef>
                <a:spcPts val="0"/>
              </a:spcBef>
              <a:spcAft>
                <a:spcPts val="0"/>
              </a:spcAft>
              <a:buSzPts val="1800"/>
              <a:buChar char="●"/>
            </a:pPr>
            <a:r>
              <a:rPr lang="fr"/>
              <a:t>Should help </a:t>
            </a:r>
            <a:r>
              <a:rPr b="1" lang="fr"/>
              <a:t>detect overcurrent</a:t>
            </a:r>
            <a:r>
              <a:rPr lang="fr"/>
              <a:t>, short circuits, or abnormal power draw : </a:t>
            </a:r>
            <a:r>
              <a:rPr b="1" lang="fr"/>
              <a:t>Max 5.3 A from motors</a:t>
            </a:r>
            <a:endParaRPr b="1"/>
          </a:p>
          <a:p>
            <a:pPr indent="-342900" lvl="0" marL="457200" marR="0" rtl="0" algn="l">
              <a:lnSpc>
                <a:spcPct val="115000"/>
              </a:lnSpc>
              <a:spcBef>
                <a:spcPts val="0"/>
              </a:spcBef>
              <a:spcAft>
                <a:spcPts val="0"/>
              </a:spcAft>
              <a:buSzPts val="1800"/>
              <a:buChar char="●"/>
            </a:pPr>
            <a:r>
              <a:rPr lang="fr"/>
              <a:t>Can handle </a:t>
            </a:r>
            <a:r>
              <a:rPr b="1" lang="fr"/>
              <a:t>&gt;2x max current (10.6A)</a:t>
            </a:r>
            <a:endParaRPr b="1"/>
          </a:p>
          <a:p>
            <a:pPr indent="-342900" lvl="0" marL="457200" marR="0" rtl="0" algn="l">
              <a:lnSpc>
                <a:spcPct val="115000"/>
              </a:lnSpc>
              <a:spcBef>
                <a:spcPts val="0"/>
              </a:spcBef>
              <a:spcAft>
                <a:spcPts val="0"/>
              </a:spcAft>
              <a:buSzPts val="1800"/>
              <a:buChar char="●"/>
            </a:pPr>
            <a:r>
              <a:rPr lang="fr"/>
              <a:t>Easy to use with the main controller during prototyping.</a:t>
            </a:r>
            <a:endParaRPr/>
          </a:p>
        </p:txBody>
      </p:sp>
      <p:sp>
        <p:nvSpPr>
          <p:cNvPr id="175" name="Google Shape;175;p24"/>
          <p:cNvSpPr txBox="1"/>
          <p:nvPr>
            <p:ph idx="4294967295" type="body"/>
          </p:nvPr>
        </p:nvSpPr>
        <p:spPr>
          <a:xfrm>
            <a:off x="4646575" y="1440000"/>
            <a:ext cx="3999900" cy="35190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fr"/>
              <a:t>Chosen sensor:</a:t>
            </a:r>
            <a:r>
              <a:rPr lang="fr"/>
              <a:t> Adafruit INA260</a:t>
            </a:r>
            <a:endParaRPr/>
          </a:p>
          <a:p>
            <a:pPr indent="-342900" lvl="0" marL="457200" marR="0" rtl="0" algn="l">
              <a:lnSpc>
                <a:spcPct val="115000"/>
              </a:lnSpc>
              <a:spcBef>
                <a:spcPts val="1200"/>
              </a:spcBef>
              <a:spcAft>
                <a:spcPts val="0"/>
              </a:spcAft>
              <a:buSzPts val="1800"/>
              <a:buChar char="●"/>
            </a:pPr>
            <a:r>
              <a:rPr lang="fr"/>
              <a:t>Measures </a:t>
            </a:r>
            <a:r>
              <a:rPr b="1" lang="fr"/>
              <a:t>current, voltage, and power</a:t>
            </a:r>
            <a:r>
              <a:rPr lang="fr"/>
              <a:t> in one device.</a:t>
            </a:r>
            <a:endParaRPr/>
          </a:p>
          <a:p>
            <a:pPr indent="-342900" lvl="0" marL="457200" marR="0" rtl="0" algn="l">
              <a:lnSpc>
                <a:spcPct val="115000"/>
              </a:lnSpc>
              <a:spcBef>
                <a:spcPts val="0"/>
              </a:spcBef>
              <a:spcAft>
                <a:spcPts val="0"/>
              </a:spcAft>
              <a:buSzPts val="1800"/>
              <a:buChar char="●"/>
            </a:pPr>
            <a:r>
              <a:rPr lang="fr"/>
              <a:t>Works over </a:t>
            </a:r>
            <a:r>
              <a:rPr b="1" lang="fr"/>
              <a:t>I2C</a:t>
            </a:r>
            <a:endParaRPr b="1"/>
          </a:p>
          <a:p>
            <a:pPr indent="-342900" lvl="0" marL="457200" marR="0" rtl="0" algn="l">
              <a:lnSpc>
                <a:spcPct val="115000"/>
              </a:lnSpc>
              <a:spcBef>
                <a:spcPts val="0"/>
              </a:spcBef>
              <a:spcAft>
                <a:spcPts val="0"/>
              </a:spcAft>
              <a:buSzPts val="1800"/>
              <a:buChar char="●"/>
            </a:pPr>
            <a:r>
              <a:rPr b="1" lang="fr"/>
              <a:t>Programmable alert capability</a:t>
            </a:r>
            <a:r>
              <a:rPr lang="fr"/>
              <a:t>.</a:t>
            </a:r>
            <a:endParaRPr/>
          </a:p>
          <a:p>
            <a:pPr indent="-342900" lvl="0" marL="457200" marR="0" rtl="0" algn="l">
              <a:lnSpc>
                <a:spcPct val="115000"/>
              </a:lnSpc>
              <a:spcBef>
                <a:spcPts val="0"/>
              </a:spcBef>
              <a:spcAft>
                <a:spcPts val="0"/>
              </a:spcAft>
              <a:buSzPts val="1800"/>
              <a:buChar char="●"/>
            </a:pPr>
            <a:r>
              <a:rPr lang="fr"/>
              <a:t>Can handle </a:t>
            </a:r>
            <a:r>
              <a:rPr b="1" lang="fr"/>
              <a:t>15A continuously</a:t>
            </a:r>
            <a:endParaRPr b="1"/>
          </a:p>
          <a:p>
            <a:pPr indent="-342900" lvl="0" marL="457200" marR="0" rtl="0" algn="l">
              <a:lnSpc>
                <a:spcPct val="115000"/>
              </a:lnSpc>
              <a:spcBef>
                <a:spcPts val="0"/>
              </a:spcBef>
              <a:spcAft>
                <a:spcPts val="0"/>
              </a:spcAft>
              <a:buSzPts val="1800"/>
              <a:buChar char="●"/>
            </a:pPr>
            <a:r>
              <a:rPr lang="fr"/>
              <a:t>Designed for straightforward integration into battery monitoring.</a:t>
            </a:r>
            <a:endParaRPr/>
          </a:p>
        </p:txBody>
      </p:sp>
      <p:pic>
        <p:nvPicPr>
          <p:cNvPr id="176" name="Google Shape;176;p24" title="Screenshot 2026-05-20 at 23.10.59.png"/>
          <p:cNvPicPr preferRelativeResize="0"/>
          <p:nvPr/>
        </p:nvPicPr>
        <p:blipFill>
          <a:blip r:embed="rId3">
            <a:alphaModFix/>
          </a:blip>
          <a:stretch>
            <a:fillRect/>
          </a:stretch>
        </p:blipFill>
        <p:spPr>
          <a:xfrm>
            <a:off x="6746051" y="177738"/>
            <a:ext cx="1132526" cy="1147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marR="0" rtl="0" algn="l">
              <a:lnSpc>
                <a:spcPct val="100000"/>
              </a:lnSpc>
              <a:spcBef>
                <a:spcPts val="0"/>
              </a:spcBef>
              <a:spcAft>
                <a:spcPts val="0"/>
              </a:spcAft>
              <a:buNone/>
            </a:pPr>
            <a:r>
              <a:rPr lang="fr"/>
              <a:t>Accelerometer</a:t>
            </a:r>
            <a:endParaRPr/>
          </a:p>
        </p:txBody>
      </p:sp>
      <p:sp>
        <p:nvSpPr>
          <p:cNvPr id="182" name="Google Shape;182;p25"/>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83" name="Google Shape;183;p25"/>
          <p:cNvSpPr txBox="1"/>
          <p:nvPr>
            <p:ph idx="4294967295" type="body"/>
          </p:nvPr>
        </p:nvSpPr>
        <p:spPr>
          <a:xfrm>
            <a:off x="288000" y="1440000"/>
            <a:ext cx="3999900" cy="2754900"/>
          </a:xfrm>
          <a:prstGeom prst="rect">
            <a:avLst/>
          </a:prstGeom>
        </p:spPr>
        <p:txBody>
          <a:bodyPr anchorCtr="0" anchor="t" bIns="91425" lIns="91425" spcFirstLastPara="1" rIns="91425" wrap="square" tIns="91425">
            <a:normAutofit lnSpcReduction="20000"/>
          </a:bodyPr>
          <a:lstStyle/>
          <a:p>
            <a:pPr indent="0" lvl="0" marL="0" marR="0" rtl="0" algn="l">
              <a:lnSpc>
                <a:spcPct val="115000"/>
              </a:lnSpc>
              <a:spcBef>
                <a:spcPts val="0"/>
              </a:spcBef>
              <a:spcAft>
                <a:spcPts val="0"/>
              </a:spcAft>
              <a:buNone/>
            </a:pPr>
            <a:r>
              <a:rPr lang="fr"/>
              <a:t>Need : </a:t>
            </a:r>
            <a:endParaRPr/>
          </a:p>
          <a:p>
            <a:pPr indent="-342900" lvl="0" marL="457200" marR="0" rtl="0" algn="l">
              <a:lnSpc>
                <a:spcPct val="115000"/>
              </a:lnSpc>
              <a:spcBef>
                <a:spcPts val="1200"/>
              </a:spcBef>
              <a:spcAft>
                <a:spcPts val="0"/>
              </a:spcAft>
              <a:buSzPts val="1800"/>
              <a:buChar char="●"/>
            </a:pPr>
            <a:r>
              <a:rPr lang="fr"/>
              <a:t>Must detect sudden shocks, falls, or abnormal impacts (</a:t>
            </a:r>
            <a:r>
              <a:rPr b="1" lang="fr"/>
              <a:t>&gt;10g</a:t>
            </a:r>
            <a:r>
              <a:rPr lang="fr"/>
              <a:t>)</a:t>
            </a:r>
            <a:endParaRPr/>
          </a:p>
          <a:p>
            <a:pPr indent="-342900" lvl="0" marL="457200" marR="0" rtl="0" algn="l">
              <a:lnSpc>
                <a:spcPct val="115000"/>
              </a:lnSpc>
              <a:spcBef>
                <a:spcPts val="0"/>
              </a:spcBef>
              <a:spcAft>
                <a:spcPts val="0"/>
              </a:spcAft>
              <a:buSzPts val="1800"/>
              <a:buChar char="●"/>
            </a:pPr>
            <a:r>
              <a:rPr lang="fr"/>
              <a:t>Should be sensitive enough to identify dangerous mechanical events.</a:t>
            </a:r>
            <a:endParaRPr/>
          </a:p>
          <a:p>
            <a:pPr indent="-342900" lvl="0" marL="457200" marR="0" rtl="0" algn="l">
              <a:lnSpc>
                <a:spcPct val="115000"/>
              </a:lnSpc>
              <a:spcBef>
                <a:spcPts val="0"/>
              </a:spcBef>
              <a:spcAft>
                <a:spcPts val="0"/>
              </a:spcAft>
              <a:buSzPts val="1800"/>
              <a:buChar char="●"/>
            </a:pPr>
            <a:r>
              <a:rPr lang="fr"/>
              <a:t>Compact and easy to mount on the prosthetic structure.</a:t>
            </a:r>
            <a:endParaRPr/>
          </a:p>
        </p:txBody>
      </p:sp>
      <p:sp>
        <p:nvSpPr>
          <p:cNvPr id="184" name="Google Shape;184;p25"/>
          <p:cNvSpPr txBox="1"/>
          <p:nvPr>
            <p:ph idx="4294967295" type="body"/>
          </p:nvPr>
        </p:nvSpPr>
        <p:spPr>
          <a:xfrm>
            <a:off x="4646575" y="1440000"/>
            <a:ext cx="3999900" cy="35190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fr"/>
              <a:t>Chosen sensor: Adafruit LIS3DH</a:t>
            </a:r>
            <a:endParaRPr/>
          </a:p>
          <a:p>
            <a:pPr indent="-342900" lvl="0" marL="457200" marR="0" rtl="0" algn="l">
              <a:lnSpc>
                <a:spcPct val="115000"/>
              </a:lnSpc>
              <a:spcBef>
                <a:spcPts val="1200"/>
              </a:spcBef>
              <a:spcAft>
                <a:spcPts val="0"/>
              </a:spcAft>
              <a:buSzPts val="1800"/>
              <a:buChar char="●"/>
            </a:pPr>
            <a:r>
              <a:rPr lang="fr"/>
              <a:t>3-axis accelerometer with a </a:t>
            </a:r>
            <a:r>
              <a:rPr b="1" lang="fr"/>
              <a:t>±16</a:t>
            </a:r>
            <a:r>
              <a:rPr lang="fr"/>
              <a:t> g full-scale range.</a:t>
            </a:r>
            <a:endParaRPr/>
          </a:p>
          <a:p>
            <a:pPr indent="-342900" lvl="0" marL="457200" marR="0" rtl="0" algn="l">
              <a:lnSpc>
                <a:spcPct val="115000"/>
              </a:lnSpc>
              <a:spcBef>
                <a:spcPts val="0"/>
              </a:spcBef>
              <a:spcAft>
                <a:spcPts val="0"/>
              </a:spcAft>
              <a:buSzPts val="1800"/>
              <a:buChar char="●"/>
            </a:pPr>
            <a:r>
              <a:rPr lang="fr"/>
              <a:t>Includes </a:t>
            </a:r>
            <a:r>
              <a:rPr b="1" lang="fr"/>
              <a:t>hardware interrupts</a:t>
            </a:r>
            <a:r>
              <a:rPr lang="fr"/>
              <a:t> for shock or free-fall events.</a:t>
            </a:r>
            <a:endParaRPr/>
          </a:p>
          <a:p>
            <a:pPr indent="-342900" lvl="0" marL="457200" marR="0" rtl="0" algn="l">
              <a:lnSpc>
                <a:spcPct val="115000"/>
              </a:lnSpc>
              <a:spcBef>
                <a:spcPts val="0"/>
              </a:spcBef>
              <a:spcAft>
                <a:spcPts val="0"/>
              </a:spcAft>
              <a:buSzPts val="1800"/>
              <a:buChar char="●"/>
            </a:pPr>
            <a:r>
              <a:rPr lang="fr"/>
              <a:t>Small, low-power, and well suited to embedded safety detection.</a:t>
            </a:r>
            <a:endParaRPr/>
          </a:p>
          <a:p>
            <a:pPr indent="-342900" lvl="0" marL="457200" marR="0" rtl="0" algn="l">
              <a:lnSpc>
                <a:spcPct val="115000"/>
              </a:lnSpc>
              <a:spcBef>
                <a:spcPts val="0"/>
              </a:spcBef>
              <a:spcAft>
                <a:spcPts val="0"/>
              </a:spcAft>
              <a:buSzPts val="1800"/>
              <a:buChar char="●"/>
            </a:pPr>
            <a:r>
              <a:rPr b="1" lang="fr"/>
              <a:t>10’000 g high shock survivability</a:t>
            </a:r>
            <a:endParaRPr b="1"/>
          </a:p>
        </p:txBody>
      </p:sp>
      <p:pic>
        <p:nvPicPr>
          <p:cNvPr id="185" name="Google Shape;185;p25" title="Screenshot 2026-05-20 at 23.14.18.png"/>
          <p:cNvPicPr preferRelativeResize="0"/>
          <p:nvPr/>
        </p:nvPicPr>
        <p:blipFill rotWithShape="1">
          <a:blip r:embed="rId3">
            <a:alphaModFix/>
          </a:blip>
          <a:srcRect b="239" l="0" r="0" t="239"/>
          <a:stretch/>
        </p:blipFill>
        <p:spPr>
          <a:xfrm>
            <a:off x="6940225" y="169314"/>
            <a:ext cx="1594799" cy="11568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idx="1" type="body"/>
          </p:nvPr>
        </p:nvSpPr>
        <p:spPr>
          <a:xfrm>
            <a:off x="288000" y="1440000"/>
            <a:ext cx="3999900" cy="275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Need : </a:t>
            </a:r>
            <a:endParaRPr sz="1600"/>
          </a:p>
          <a:p>
            <a:pPr indent="-330200" lvl="0" marL="457200" rtl="0" algn="l">
              <a:spcBef>
                <a:spcPts val="1200"/>
              </a:spcBef>
              <a:spcAft>
                <a:spcPts val="0"/>
              </a:spcAft>
              <a:buSzPts val="1600"/>
              <a:buChar char="●"/>
            </a:pPr>
            <a:r>
              <a:rPr lang="fr" sz="1600"/>
              <a:t>Small enough to be attached to motors, battery, and socket</a:t>
            </a:r>
            <a:endParaRPr sz="1600"/>
          </a:p>
          <a:p>
            <a:pPr indent="-330200" lvl="0" marL="457200" rtl="0" algn="l">
              <a:spcBef>
                <a:spcPts val="0"/>
              </a:spcBef>
              <a:spcAft>
                <a:spcPts val="0"/>
              </a:spcAft>
              <a:buSzPts val="1600"/>
              <a:buChar char="●"/>
            </a:pPr>
            <a:r>
              <a:rPr lang="fr" sz="1600"/>
              <a:t>Can withstand and sense </a:t>
            </a:r>
            <a:r>
              <a:rPr b="1" lang="fr" sz="1600"/>
              <a:t>&gt;85°</a:t>
            </a:r>
            <a:r>
              <a:rPr lang="fr" sz="1600"/>
              <a:t> (max. allowed motor casing temp)</a:t>
            </a:r>
            <a:endParaRPr sz="1600"/>
          </a:p>
          <a:p>
            <a:pPr indent="-330200" lvl="0" marL="457200" rtl="0" algn="l">
              <a:spcBef>
                <a:spcPts val="0"/>
              </a:spcBef>
              <a:spcAft>
                <a:spcPts val="0"/>
              </a:spcAft>
              <a:buSzPts val="1600"/>
              <a:buChar char="●"/>
            </a:pPr>
            <a:r>
              <a:rPr lang="fr" sz="1600"/>
              <a:t>Easy to use for prototyping and implementation</a:t>
            </a:r>
            <a:endParaRPr sz="1600"/>
          </a:p>
        </p:txBody>
      </p:sp>
      <p:sp>
        <p:nvSpPr>
          <p:cNvPr id="191" name="Google Shape;191;p26"/>
          <p:cNvSpPr txBox="1"/>
          <p:nvPr>
            <p:ph idx="2" type="body"/>
          </p:nvPr>
        </p:nvSpPr>
        <p:spPr>
          <a:xfrm>
            <a:off x="4810975" y="1440000"/>
            <a:ext cx="3999900" cy="15879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fr" sz="1600"/>
              <a:t>Chosen sensor : DS18B20</a:t>
            </a:r>
            <a:endParaRPr sz="1600"/>
          </a:p>
          <a:p>
            <a:pPr indent="-330200" lvl="0" marL="457200" marR="0" rtl="0" algn="l">
              <a:lnSpc>
                <a:spcPct val="115000"/>
              </a:lnSpc>
              <a:spcBef>
                <a:spcPts val="1200"/>
              </a:spcBef>
              <a:spcAft>
                <a:spcPts val="0"/>
              </a:spcAft>
              <a:buSzPts val="1600"/>
              <a:buChar char="●"/>
            </a:pPr>
            <a:r>
              <a:rPr lang="fr" sz="1600"/>
              <a:t>Measures Temperatures from </a:t>
            </a:r>
            <a:r>
              <a:rPr b="1" lang="fr" sz="1600"/>
              <a:t>-55°C to +125°C</a:t>
            </a:r>
            <a:endParaRPr b="1" sz="1600"/>
          </a:p>
          <a:p>
            <a:pPr indent="-330200" lvl="0" marL="457200" rtl="0" algn="l">
              <a:spcBef>
                <a:spcPts val="0"/>
              </a:spcBef>
              <a:spcAft>
                <a:spcPts val="0"/>
              </a:spcAft>
              <a:buSzPts val="1600"/>
              <a:buChar char="●"/>
            </a:pPr>
            <a:r>
              <a:rPr b="1" lang="fr" sz="1600"/>
              <a:t>1-Wire</a:t>
            </a:r>
            <a:r>
              <a:rPr lang="fr" sz="1600"/>
              <a:t>® Interface (no calibration)</a:t>
            </a:r>
            <a:endParaRPr sz="900">
              <a:solidFill>
                <a:srgbClr val="000000"/>
              </a:solidFill>
              <a:latin typeface="Arial"/>
              <a:ea typeface="Arial"/>
              <a:cs typeface="Arial"/>
              <a:sym typeface="Arial"/>
            </a:endParaRPr>
          </a:p>
          <a:p>
            <a:pPr indent="-330200" lvl="0" marL="457200" marR="0" rtl="0" algn="l">
              <a:lnSpc>
                <a:spcPct val="115000"/>
              </a:lnSpc>
              <a:spcBef>
                <a:spcPts val="0"/>
              </a:spcBef>
              <a:spcAft>
                <a:spcPts val="0"/>
              </a:spcAft>
              <a:buSzPts val="1600"/>
              <a:buChar char="●"/>
            </a:pPr>
            <a:r>
              <a:rPr lang="fr" sz="1600"/>
              <a:t>Small : &lt; 1cm</a:t>
            </a:r>
            <a:endParaRPr sz="1600"/>
          </a:p>
        </p:txBody>
      </p:sp>
      <p:sp>
        <p:nvSpPr>
          <p:cNvPr id="192" name="Google Shape;192;p26"/>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fr"/>
              <a:t>Thermal Sensor</a:t>
            </a:r>
            <a:endParaRPr/>
          </a:p>
        </p:txBody>
      </p:sp>
      <p:sp>
        <p:nvSpPr>
          <p:cNvPr id="193" name="Google Shape;193;p26"/>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94" name="Google Shape;194;p26" title="Screenshot 2026-05-20 at 22.50.15.png"/>
          <p:cNvPicPr preferRelativeResize="0"/>
          <p:nvPr/>
        </p:nvPicPr>
        <p:blipFill>
          <a:blip r:embed="rId3">
            <a:alphaModFix/>
          </a:blip>
          <a:stretch>
            <a:fillRect/>
          </a:stretch>
        </p:blipFill>
        <p:spPr>
          <a:xfrm>
            <a:off x="6021100" y="3027888"/>
            <a:ext cx="2019300" cy="2009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marR="0" rtl="0" algn="l">
              <a:lnSpc>
                <a:spcPct val="100000"/>
              </a:lnSpc>
              <a:spcBef>
                <a:spcPts val="0"/>
              </a:spcBef>
              <a:spcAft>
                <a:spcPts val="0"/>
              </a:spcAft>
              <a:buNone/>
            </a:pPr>
            <a:r>
              <a:rPr lang="fr"/>
              <a:t>1-Wire</a:t>
            </a:r>
            <a:r>
              <a:rPr lang="fr"/>
              <a:t> to I2C Adapter</a:t>
            </a:r>
            <a:endParaRPr/>
          </a:p>
        </p:txBody>
      </p:sp>
      <p:sp>
        <p:nvSpPr>
          <p:cNvPr id="200" name="Google Shape;200;p27"/>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01" name="Google Shape;201;p27"/>
          <p:cNvSpPr txBox="1"/>
          <p:nvPr>
            <p:ph idx="4294967295" type="body"/>
          </p:nvPr>
        </p:nvSpPr>
        <p:spPr>
          <a:xfrm>
            <a:off x="288000" y="1440000"/>
            <a:ext cx="3999900" cy="275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Need : </a:t>
            </a:r>
            <a:endParaRPr/>
          </a:p>
          <a:p>
            <a:pPr indent="-342900" lvl="0" marL="457200" marR="0" rtl="0" algn="l">
              <a:lnSpc>
                <a:spcPct val="115000"/>
              </a:lnSpc>
              <a:spcBef>
                <a:spcPts val="1200"/>
              </a:spcBef>
              <a:spcAft>
                <a:spcPts val="0"/>
              </a:spcAft>
              <a:buSzPts val="1800"/>
              <a:buChar char="●"/>
            </a:pPr>
            <a:r>
              <a:rPr lang="fr"/>
              <a:t>Must allow the 1-Wire thermal sensors to communicate with the main controller</a:t>
            </a:r>
            <a:endParaRPr/>
          </a:p>
          <a:p>
            <a:pPr indent="-342900" lvl="0" marL="457200" marR="0" rtl="0" algn="l">
              <a:lnSpc>
                <a:spcPct val="115000"/>
              </a:lnSpc>
              <a:spcBef>
                <a:spcPts val="0"/>
              </a:spcBef>
              <a:spcAft>
                <a:spcPts val="0"/>
              </a:spcAft>
              <a:buSzPts val="1800"/>
              <a:buChar char="●"/>
            </a:pPr>
            <a:r>
              <a:rPr lang="fr"/>
              <a:t>Should simplify wiring to only have I2C cables passing by the wrist</a:t>
            </a:r>
            <a:endParaRPr/>
          </a:p>
        </p:txBody>
      </p:sp>
      <p:sp>
        <p:nvSpPr>
          <p:cNvPr id="202" name="Google Shape;202;p27"/>
          <p:cNvSpPr txBox="1"/>
          <p:nvPr>
            <p:ph idx="4294967295" type="body"/>
          </p:nvPr>
        </p:nvSpPr>
        <p:spPr>
          <a:xfrm>
            <a:off x="4646575" y="1440000"/>
            <a:ext cx="4221600" cy="35190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fr"/>
              <a:t>C</a:t>
            </a:r>
            <a:r>
              <a:rPr lang="fr"/>
              <a:t>hosen component : Adafruit DS2484</a:t>
            </a:r>
            <a:endParaRPr/>
          </a:p>
          <a:p>
            <a:pPr indent="-342900" lvl="0" marL="457200" marR="0" rtl="0" algn="l">
              <a:lnSpc>
                <a:spcPct val="115000"/>
              </a:lnSpc>
              <a:spcBef>
                <a:spcPts val="1200"/>
              </a:spcBef>
              <a:spcAft>
                <a:spcPts val="0"/>
              </a:spcAft>
              <a:buSzPts val="1800"/>
              <a:buChar char="●"/>
            </a:pPr>
            <a:r>
              <a:rPr lang="fr"/>
              <a:t>Converts </a:t>
            </a:r>
            <a:r>
              <a:rPr lang="fr"/>
              <a:t>1-Wire</a:t>
            </a:r>
            <a:r>
              <a:rPr lang="fr"/>
              <a:t> to </a:t>
            </a:r>
            <a:r>
              <a:rPr lang="fr"/>
              <a:t>I2C </a:t>
            </a:r>
            <a:r>
              <a:rPr lang="fr"/>
              <a:t>communication.</a:t>
            </a:r>
            <a:endParaRPr/>
          </a:p>
          <a:p>
            <a:pPr indent="-342900" lvl="0" marL="457200" marR="0" rtl="0" algn="l">
              <a:lnSpc>
                <a:spcPct val="115000"/>
              </a:lnSpc>
              <a:spcBef>
                <a:spcPts val="0"/>
              </a:spcBef>
              <a:spcAft>
                <a:spcPts val="0"/>
              </a:spcAft>
              <a:buSzPts val="1800"/>
              <a:buChar char="●"/>
            </a:pPr>
            <a:r>
              <a:rPr lang="fr"/>
              <a:t>Makes it easier to integrate multiple DS18B20 sensors.</a:t>
            </a:r>
            <a:endParaRPr/>
          </a:p>
          <a:p>
            <a:pPr indent="-342900" lvl="0" marL="457200" marR="0" rtl="0" algn="l">
              <a:lnSpc>
                <a:spcPct val="115000"/>
              </a:lnSpc>
              <a:spcBef>
                <a:spcPts val="0"/>
              </a:spcBef>
              <a:spcAft>
                <a:spcPts val="0"/>
              </a:spcAft>
              <a:buSzPts val="1800"/>
              <a:buChar char="●"/>
            </a:pPr>
            <a:r>
              <a:rPr lang="fr"/>
              <a:t>Reduces software and wiring complexity.</a:t>
            </a:r>
            <a:endParaRPr/>
          </a:p>
        </p:txBody>
      </p:sp>
      <p:pic>
        <p:nvPicPr>
          <p:cNvPr id="203" name="Google Shape;203;p27" title="Screenshot 2026-05-20 at 23.16.38.png"/>
          <p:cNvPicPr preferRelativeResize="0"/>
          <p:nvPr/>
        </p:nvPicPr>
        <p:blipFill rotWithShape="1">
          <a:blip r:embed="rId3">
            <a:alphaModFix/>
          </a:blip>
          <a:srcRect b="100" l="0" r="0" t="90"/>
          <a:stretch/>
        </p:blipFill>
        <p:spPr>
          <a:xfrm>
            <a:off x="6940225" y="169314"/>
            <a:ext cx="1594799" cy="11568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marR="0" rtl="0" algn="l">
              <a:lnSpc>
                <a:spcPct val="100000"/>
              </a:lnSpc>
              <a:spcBef>
                <a:spcPts val="0"/>
              </a:spcBef>
              <a:spcAft>
                <a:spcPts val="0"/>
              </a:spcAft>
              <a:buNone/>
            </a:pPr>
            <a:r>
              <a:rPr lang="fr"/>
              <a:t>Microcontroller</a:t>
            </a:r>
            <a:endParaRPr/>
          </a:p>
        </p:txBody>
      </p:sp>
      <p:sp>
        <p:nvSpPr>
          <p:cNvPr id="209" name="Google Shape;209;p28"/>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10" name="Google Shape;210;p28"/>
          <p:cNvSpPr txBox="1"/>
          <p:nvPr>
            <p:ph idx="4294967295" type="body"/>
          </p:nvPr>
        </p:nvSpPr>
        <p:spPr>
          <a:xfrm>
            <a:off x="347700" y="1504225"/>
            <a:ext cx="4225800" cy="306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Need : </a:t>
            </a:r>
            <a:endParaRPr/>
          </a:p>
          <a:p>
            <a:pPr indent="-342900" lvl="0" marL="457200" marR="0" rtl="0" algn="l">
              <a:lnSpc>
                <a:spcPct val="115000"/>
              </a:lnSpc>
              <a:spcBef>
                <a:spcPts val="1200"/>
              </a:spcBef>
              <a:spcAft>
                <a:spcPts val="0"/>
              </a:spcAft>
              <a:buSzPts val="1800"/>
              <a:buChar char="●"/>
            </a:pPr>
            <a:r>
              <a:rPr lang="fr"/>
              <a:t>Handle </a:t>
            </a:r>
            <a:r>
              <a:rPr b="1" lang="fr"/>
              <a:t>2 separate I2C lines</a:t>
            </a:r>
            <a:endParaRPr b="1"/>
          </a:p>
          <a:p>
            <a:pPr indent="-342900" lvl="0" marL="457200" marR="0" rtl="0" algn="l">
              <a:lnSpc>
                <a:spcPct val="115000"/>
              </a:lnSpc>
              <a:spcBef>
                <a:spcPts val="0"/>
              </a:spcBef>
              <a:spcAft>
                <a:spcPts val="0"/>
              </a:spcAft>
              <a:buSzPts val="1800"/>
              <a:buChar char="●"/>
            </a:pPr>
            <a:r>
              <a:rPr lang="fr"/>
              <a:t>E</a:t>
            </a:r>
            <a:r>
              <a:rPr lang="fr"/>
              <a:t>nough performance for future expansion and diagnostics.</a:t>
            </a:r>
            <a:endParaRPr/>
          </a:p>
          <a:p>
            <a:pPr indent="-342900" lvl="0" marL="457200" marR="0" rtl="0" algn="l">
              <a:lnSpc>
                <a:spcPct val="115000"/>
              </a:lnSpc>
              <a:spcBef>
                <a:spcPts val="0"/>
              </a:spcBef>
              <a:spcAft>
                <a:spcPts val="0"/>
              </a:spcAft>
              <a:buSzPts val="1800"/>
              <a:buChar char="●"/>
            </a:pPr>
            <a:r>
              <a:rPr b="1" lang="fr"/>
              <a:t>Extra pins </a:t>
            </a:r>
            <a:r>
              <a:rPr lang="fr"/>
              <a:t>for hardware interrupt</a:t>
            </a:r>
            <a:endParaRPr/>
          </a:p>
          <a:p>
            <a:pPr indent="-342900" lvl="0" marL="457200" marR="0" rtl="0" algn="l">
              <a:lnSpc>
                <a:spcPct val="115000"/>
              </a:lnSpc>
              <a:spcBef>
                <a:spcPts val="0"/>
              </a:spcBef>
              <a:spcAft>
                <a:spcPts val="0"/>
              </a:spcAft>
              <a:buSzPts val="1800"/>
              <a:buChar char="●"/>
            </a:pPr>
            <a:r>
              <a:rPr lang="fr"/>
              <a:t>Possibility for wireless communication</a:t>
            </a:r>
            <a:endParaRPr/>
          </a:p>
          <a:p>
            <a:pPr indent="-342900" lvl="0" marL="457200" marR="0" rtl="0" algn="l">
              <a:lnSpc>
                <a:spcPct val="115000"/>
              </a:lnSpc>
              <a:spcBef>
                <a:spcPts val="0"/>
              </a:spcBef>
              <a:spcAft>
                <a:spcPts val="0"/>
              </a:spcAft>
              <a:buSzPts val="1800"/>
              <a:buChar char="●"/>
            </a:pPr>
            <a:r>
              <a:rPr b="1" lang="fr"/>
              <a:t>MicroSD</a:t>
            </a:r>
            <a:r>
              <a:rPr lang="fr"/>
              <a:t> slot for data storage in case of failure and power cut.</a:t>
            </a:r>
            <a:endParaRPr/>
          </a:p>
          <a:p>
            <a:pPr indent="-342900" lvl="0" marL="457200" marR="0" rtl="0" algn="l">
              <a:lnSpc>
                <a:spcPct val="115000"/>
              </a:lnSpc>
              <a:spcBef>
                <a:spcPts val="0"/>
              </a:spcBef>
              <a:spcAft>
                <a:spcPts val="0"/>
              </a:spcAft>
              <a:buSzPts val="1800"/>
              <a:buChar char="●"/>
            </a:pPr>
            <a:r>
              <a:rPr lang="fr"/>
              <a:t>Low consumption</a:t>
            </a:r>
            <a:endParaRPr/>
          </a:p>
        </p:txBody>
      </p:sp>
      <p:sp>
        <p:nvSpPr>
          <p:cNvPr id="211" name="Google Shape;211;p28"/>
          <p:cNvSpPr txBox="1"/>
          <p:nvPr>
            <p:ph idx="4294967295" type="body"/>
          </p:nvPr>
        </p:nvSpPr>
        <p:spPr>
          <a:xfrm>
            <a:off x="4646575" y="1504225"/>
            <a:ext cx="4309200" cy="3530400"/>
          </a:xfrm>
          <a:prstGeom prst="rect">
            <a:avLst/>
          </a:prstGeom>
        </p:spPr>
        <p:txBody>
          <a:bodyPr anchorCtr="0" anchor="t" bIns="91425" lIns="91425" spcFirstLastPara="1" rIns="91425" wrap="square" tIns="91425">
            <a:normAutofit fontScale="92500" lnSpcReduction="10000"/>
          </a:bodyPr>
          <a:lstStyle/>
          <a:p>
            <a:pPr indent="0" lvl="0" marL="0" marR="0" rtl="0" algn="l">
              <a:lnSpc>
                <a:spcPct val="115000"/>
              </a:lnSpc>
              <a:spcBef>
                <a:spcPts val="0"/>
              </a:spcBef>
              <a:spcAft>
                <a:spcPts val="0"/>
              </a:spcAft>
              <a:buNone/>
            </a:pPr>
            <a:r>
              <a:rPr lang="fr"/>
              <a:t>Chosen MCU: </a:t>
            </a:r>
            <a:r>
              <a:rPr lang="fr"/>
              <a:t>Adafruit Metro ESP32-S3</a:t>
            </a:r>
            <a:endParaRPr/>
          </a:p>
          <a:p>
            <a:pPr indent="-334328" lvl="0" marL="457200" marR="0" rtl="0" algn="l">
              <a:lnSpc>
                <a:spcPct val="115000"/>
              </a:lnSpc>
              <a:spcBef>
                <a:spcPts val="1200"/>
              </a:spcBef>
              <a:spcAft>
                <a:spcPts val="0"/>
              </a:spcAft>
              <a:buSzPct val="100000"/>
              <a:buChar char="●"/>
            </a:pPr>
            <a:r>
              <a:rPr lang="fr"/>
              <a:t>Powerful MCU with wireless capability.</a:t>
            </a:r>
            <a:endParaRPr/>
          </a:p>
          <a:p>
            <a:pPr indent="-334328" lvl="0" marL="457200" marR="0" rtl="0" algn="l">
              <a:lnSpc>
                <a:spcPct val="115000"/>
              </a:lnSpc>
              <a:spcBef>
                <a:spcPts val="0"/>
              </a:spcBef>
              <a:spcAft>
                <a:spcPts val="0"/>
              </a:spcAft>
              <a:buSzPct val="100000"/>
              <a:buChar char="●"/>
            </a:pPr>
            <a:r>
              <a:rPr lang="fr"/>
              <a:t>Supports both I2C and 1-Wire-related system architecture.</a:t>
            </a:r>
            <a:endParaRPr/>
          </a:p>
          <a:p>
            <a:pPr indent="-334328" lvl="0" marL="457200" marR="0" rtl="0" algn="l">
              <a:lnSpc>
                <a:spcPct val="115000"/>
              </a:lnSpc>
              <a:spcBef>
                <a:spcPts val="0"/>
              </a:spcBef>
              <a:spcAft>
                <a:spcPts val="0"/>
              </a:spcAft>
              <a:buSzPct val="100000"/>
              <a:buChar char="●"/>
            </a:pPr>
            <a:r>
              <a:rPr lang="fr"/>
              <a:t>Good fit for a safety-oriented embedded prototype.</a:t>
            </a:r>
            <a:endParaRPr/>
          </a:p>
          <a:p>
            <a:pPr indent="-334328" lvl="0" marL="457200" marR="0" rtl="0" algn="l">
              <a:lnSpc>
                <a:spcPct val="115000"/>
              </a:lnSpc>
              <a:spcBef>
                <a:spcPts val="0"/>
              </a:spcBef>
              <a:spcAft>
                <a:spcPts val="0"/>
              </a:spcAft>
              <a:buSzPct val="100000"/>
              <a:buChar char="●"/>
            </a:pPr>
            <a:r>
              <a:rPr lang="fr"/>
              <a:t>Many pins</a:t>
            </a:r>
            <a:endParaRPr/>
          </a:p>
          <a:p>
            <a:pPr indent="-334328" lvl="0" marL="457200" marR="0" rtl="0" algn="l">
              <a:lnSpc>
                <a:spcPct val="115000"/>
              </a:lnSpc>
              <a:spcBef>
                <a:spcPts val="0"/>
              </a:spcBef>
              <a:spcAft>
                <a:spcPts val="0"/>
              </a:spcAft>
              <a:buSzPct val="100000"/>
              <a:buChar char="●"/>
            </a:pPr>
            <a:r>
              <a:rPr lang="fr"/>
              <a:t>MicroSD slot</a:t>
            </a:r>
            <a:endParaRPr/>
          </a:p>
          <a:p>
            <a:pPr indent="-334328" lvl="0" marL="457200" marR="0" rtl="0" algn="l">
              <a:lnSpc>
                <a:spcPct val="115000"/>
              </a:lnSpc>
              <a:spcBef>
                <a:spcPts val="0"/>
              </a:spcBef>
              <a:spcAft>
                <a:spcPts val="0"/>
              </a:spcAft>
              <a:buSzPct val="100000"/>
              <a:buChar char="●"/>
            </a:pPr>
            <a:r>
              <a:rPr lang="fr"/>
              <a:t>60-80 mA in use</a:t>
            </a:r>
            <a:endParaRPr/>
          </a:p>
          <a:p>
            <a:pPr indent="-334328" lvl="0" marL="457200" marR="0" rtl="0" algn="l">
              <a:lnSpc>
                <a:spcPct val="115000"/>
              </a:lnSpc>
              <a:spcBef>
                <a:spcPts val="0"/>
              </a:spcBef>
              <a:spcAft>
                <a:spcPts val="0"/>
              </a:spcAft>
              <a:buSzPct val="100000"/>
              <a:buChar char="●"/>
            </a:pPr>
            <a:r>
              <a:rPr lang="fr"/>
              <a:t>Low Power deep sleep mode (100uA)</a:t>
            </a:r>
            <a:endParaRPr/>
          </a:p>
          <a:p>
            <a:pPr indent="-334328" lvl="0" marL="457200" marR="0" rtl="0" algn="l">
              <a:lnSpc>
                <a:spcPct val="115000"/>
              </a:lnSpc>
              <a:spcBef>
                <a:spcPts val="0"/>
              </a:spcBef>
              <a:spcAft>
                <a:spcPts val="0"/>
              </a:spcAft>
              <a:buSzPct val="100000"/>
              <a:buChar char="●"/>
            </a:pPr>
            <a:r>
              <a:rPr lang="fr"/>
              <a:t>Stemma QT connector for quick prototyping</a:t>
            </a:r>
            <a:endParaRPr/>
          </a:p>
        </p:txBody>
      </p:sp>
      <p:pic>
        <p:nvPicPr>
          <p:cNvPr id="212" name="Google Shape;212;p28" title="Screenshot 2026-05-20 at 23.22.57.png"/>
          <p:cNvPicPr preferRelativeResize="0"/>
          <p:nvPr/>
        </p:nvPicPr>
        <p:blipFill rotWithShape="1">
          <a:blip r:embed="rId3">
            <a:alphaModFix/>
          </a:blip>
          <a:srcRect b="3254" l="0" r="0" t="3254"/>
          <a:stretch/>
        </p:blipFill>
        <p:spPr>
          <a:xfrm>
            <a:off x="6410300" y="42900"/>
            <a:ext cx="2014574" cy="14613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Bus Architecture</a:t>
            </a:r>
            <a:endParaRPr/>
          </a:p>
        </p:txBody>
      </p:sp>
      <p:sp>
        <p:nvSpPr>
          <p:cNvPr id="218" name="Google Shape;218;p29"/>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219" name="Google Shape;219;p29" title="Screenshot 2026-04-15 at 13.55.23.png"/>
          <p:cNvPicPr preferRelativeResize="0"/>
          <p:nvPr/>
        </p:nvPicPr>
        <p:blipFill>
          <a:blip r:embed="rId3">
            <a:alphaModFix/>
          </a:blip>
          <a:stretch>
            <a:fillRect/>
          </a:stretch>
        </p:blipFill>
        <p:spPr>
          <a:xfrm>
            <a:off x="916200" y="1074600"/>
            <a:ext cx="6691738" cy="3764102"/>
          </a:xfrm>
          <a:prstGeom prst="rect">
            <a:avLst/>
          </a:prstGeom>
          <a:noFill/>
          <a:ln>
            <a:noFill/>
          </a:ln>
        </p:spPr>
      </p:pic>
      <p:sp>
        <p:nvSpPr>
          <p:cNvPr id="220" name="Google Shape;220;p29"/>
          <p:cNvSpPr/>
          <p:nvPr/>
        </p:nvSpPr>
        <p:spPr>
          <a:xfrm>
            <a:off x="5162225" y="1939650"/>
            <a:ext cx="656100" cy="3936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latin typeface="Roboto"/>
                <a:ea typeface="Roboto"/>
                <a:cs typeface="Roboto"/>
                <a:sym typeface="Roboto"/>
              </a:rPr>
              <a:t>Battery</a:t>
            </a:r>
            <a:endParaRPr sz="1000">
              <a:latin typeface="Roboto"/>
              <a:ea typeface="Roboto"/>
              <a:cs typeface="Roboto"/>
              <a:sym typeface="Roboto"/>
            </a:endParaRPr>
          </a:p>
        </p:txBody>
      </p:sp>
      <p:sp>
        <p:nvSpPr>
          <p:cNvPr id="221" name="Google Shape;221;p29"/>
          <p:cNvSpPr/>
          <p:nvPr/>
        </p:nvSpPr>
        <p:spPr>
          <a:xfrm>
            <a:off x="5453125" y="1984450"/>
            <a:ext cx="70200" cy="70200"/>
          </a:xfrm>
          <a:prstGeom prst="ellipse">
            <a:avLst/>
          </a:prstGeom>
          <a:solidFill>
            <a:srgbClr val="0B5394"/>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2" name="Google Shape;222;p29"/>
          <p:cNvCxnSpPr>
            <a:endCxn id="221" idx="2"/>
          </p:cNvCxnSpPr>
          <p:nvPr/>
        </p:nvCxnSpPr>
        <p:spPr>
          <a:xfrm>
            <a:off x="4675825" y="2001850"/>
            <a:ext cx="777300" cy="17700"/>
          </a:xfrm>
          <a:prstGeom prst="straightConnector1">
            <a:avLst/>
          </a:prstGeom>
          <a:noFill/>
          <a:ln cap="flat" cmpd="sng" w="19050">
            <a:solidFill>
              <a:srgbClr val="FF9900"/>
            </a:solidFill>
            <a:prstDash val="solid"/>
            <a:round/>
            <a:headEnd len="med" w="med" type="none"/>
            <a:tailEnd len="med" w="med" type="none"/>
          </a:ln>
        </p:spPr>
      </p:cxnSp>
      <p:cxnSp>
        <p:nvCxnSpPr>
          <p:cNvPr id="223" name="Google Shape;223;p29"/>
          <p:cNvCxnSpPr/>
          <p:nvPr/>
        </p:nvCxnSpPr>
        <p:spPr>
          <a:xfrm>
            <a:off x="5523325" y="2010700"/>
            <a:ext cx="853200" cy="8700"/>
          </a:xfrm>
          <a:prstGeom prst="straightConnector1">
            <a:avLst/>
          </a:prstGeom>
          <a:noFill/>
          <a:ln cap="flat" cmpd="sng" w="19050">
            <a:solidFill>
              <a:srgbClr val="FF99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Bus Architecture</a:t>
            </a:r>
            <a:endParaRPr/>
          </a:p>
        </p:txBody>
      </p:sp>
      <p:sp>
        <p:nvSpPr>
          <p:cNvPr id="229" name="Google Shape;229;p30"/>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230" name="Google Shape;230;p30" title="IMG_5487.jpg"/>
          <p:cNvPicPr preferRelativeResize="0"/>
          <p:nvPr/>
        </p:nvPicPr>
        <p:blipFill>
          <a:blip r:embed="rId3">
            <a:alphaModFix/>
          </a:blip>
          <a:stretch>
            <a:fillRect/>
          </a:stretch>
        </p:blipFill>
        <p:spPr>
          <a:xfrm>
            <a:off x="3514125" y="0"/>
            <a:ext cx="4917053"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type="title"/>
          </p:nvPr>
        </p:nvSpPr>
        <p:spPr>
          <a:xfrm>
            <a:off x="473550" y="526350"/>
            <a:ext cx="8196900" cy="4090800"/>
          </a:xfrm>
          <a:prstGeom prst="rect">
            <a:avLst/>
          </a:prstGeom>
        </p:spPr>
        <p:txBody>
          <a:bodyPr anchorCtr="0" anchor="ctr" bIns="91425" lIns="91425" spcFirstLastPara="1" rIns="91425" wrap="square" tIns="91425">
            <a:normAutofit/>
          </a:bodyPr>
          <a:lstStyle/>
          <a:p>
            <a:pPr indent="0" lvl="0" marL="0" rtl="0" algn="ctr">
              <a:lnSpc>
                <a:spcPct val="115000"/>
              </a:lnSpc>
              <a:spcBef>
                <a:spcPts val="1200"/>
              </a:spcBef>
              <a:spcAft>
                <a:spcPts val="1200"/>
              </a:spcAft>
              <a:buNone/>
            </a:pPr>
            <a:r>
              <a:rPr lang="fr"/>
              <a:t>3. Software</a:t>
            </a:r>
            <a:endParaRPr/>
          </a:p>
        </p:txBody>
      </p:sp>
      <p:sp>
        <p:nvSpPr>
          <p:cNvPr id="236" name="Google Shape;236;p31"/>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347700" y="428100"/>
            <a:ext cx="8520600" cy="646500"/>
          </a:xfrm>
          <a:prstGeom prst="rect">
            <a:avLst/>
          </a:prstGeom>
        </p:spPr>
        <p:txBody>
          <a:bodyPr anchorCtr="0" anchor="b" bIns="91425" lIns="91425" spcFirstLastPara="1" rIns="91425" wrap="square" tIns="91425">
            <a:spAutoFit/>
          </a:bodyPr>
          <a:lstStyle/>
          <a:p>
            <a:pPr indent="0" lvl="0" marL="0" marR="0" rtl="0" algn="l">
              <a:lnSpc>
                <a:spcPct val="115000"/>
              </a:lnSpc>
              <a:spcBef>
                <a:spcPts val="1200"/>
              </a:spcBef>
              <a:spcAft>
                <a:spcPts val="1200"/>
              </a:spcAft>
              <a:buNone/>
            </a:pPr>
            <a:r>
              <a:rPr lang="fr"/>
              <a:t>Embedded Safety Logic – Pseudocode</a:t>
            </a:r>
            <a:endParaRPr/>
          </a:p>
        </p:txBody>
      </p:sp>
      <p:sp>
        <p:nvSpPr>
          <p:cNvPr id="242" name="Google Shape;242;p32"/>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43" name="Google Shape;243;p32"/>
          <p:cNvSpPr txBox="1"/>
          <p:nvPr/>
        </p:nvSpPr>
        <p:spPr>
          <a:xfrm>
            <a:off x="2182350" y="1074600"/>
            <a:ext cx="5357400" cy="3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1"/>
                </a:solidFill>
                <a:latin typeface="Courier New"/>
                <a:ea typeface="Courier New"/>
                <a:cs typeface="Courier New"/>
                <a:sym typeface="Courier New"/>
              </a:rPr>
              <a:t>Initialize sensors and </a:t>
            </a:r>
            <a:r>
              <a:rPr b="1" lang="fr" sz="1600">
                <a:latin typeface="Courier New"/>
                <a:ea typeface="Courier New"/>
                <a:cs typeface="Courier New"/>
                <a:sym typeface="Courier New"/>
              </a:rPr>
              <a:t>interrupts</a:t>
            </a:r>
            <a:endParaRPr b="1" sz="1600">
              <a:latin typeface="Courier New"/>
              <a:ea typeface="Courier New"/>
              <a:cs typeface="Courier New"/>
              <a:sym typeface="Courier New"/>
            </a:endParaRPr>
          </a:p>
          <a:p>
            <a:pPr indent="0" lvl="0" marL="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fr" sz="1600">
                <a:solidFill>
                  <a:schemeClr val="dk1"/>
                </a:solidFill>
                <a:latin typeface="Courier New"/>
                <a:ea typeface="Courier New"/>
                <a:cs typeface="Courier New"/>
                <a:sym typeface="Courier New"/>
              </a:rPr>
              <a:t>Loop:</a:t>
            </a:r>
            <a:endParaRPr b="1" sz="16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b="1" lang="fr" sz="1600">
                <a:solidFill>
                  <a:srgbClr val="CC0000"/>
                </a:solidFill>
                <a:latin typeface="Courier New"/>
                <a:ea typeface="Courier New"/>
                <a:cs typeface="Courier New"/>
                <a:sym typeface="Courier New"/>
              </a:rPr>
              <a:t>check interrupt-based faults</a:t>
            </a:r>
            <a:endParaRPr b="1" sz="1600">
              <a:solidFill>
                <a:srgbClr val="CC0000"/>
              </a:solidFill>
              <a:latin typeface="Courier New"/>
              <a:ea typeface="Courier New"/>
              <a:cs typeface="Courier New"/>
              <a:sym typeface="Courier New"/>
            </a:endParaRPr>
          </a:p>
          <a:p>
            <a:pPr indent="457200" lvl="0" marL="0" rtl="0" algn="l">
              <a:spcBef>
                <a:spcPts val="0"/>
              </a:spcBef>
              <a:spcAft>
                <a:spcPts val="0"/>
              </a:spcAft>
              <a:buNone/>
            </a:pPr>
            <a:r>
              <a:rPr b="1" lang="fr" sz="1600">
                <a:solidFill>
                  <a:srgbClr val="CC0000"/>
                </a:solidFill>
                <a:latin typeface="Courier New"/>
                <a:ea typeface="Courier New"/>
                <a:cs typeface="Courier New"/>
                <a:sym typeface="Courier New"/>
              </a:rPr>
              <a:t>If a critical fault is confirmed:</a:t>
            </a:r>
            <a:endParaRPr b="1" sz="1600">
              <a:solidFill>
                <a:srgbClr val="CC0000"/>
              </a:solidFill>
              <a:latin typeface="Courier New"/>
              <a:ea typeface="Courier New"/>
              <a:cs typeface="Courier New"/>
              <a:sym typeface="Courier New"/>
            </a:endParaRPr>
          </a:p>
          <a:p>
            <a:pPr indent="457200" lvl="0" marL="457200" rtl="0" algn="l">
              <a:spcBef>
                <a:spcPts val="0"/>
              </a:spcBef>
              <a:spcAft>
                <a:spcPts val="0"/>
              </a:spcAft>
              <a:buNone/>
            </a:pPr>
            <a:r>
              <a:rPr b="1" lang="fr" sz="1600">
                <a:solidFill>
                  <a:srgbClr val="CC0000"/>
                </a:solidFill>
                <a:latin typeface="Courier New"/>
                <a:ea typeface="Courier New"/>
                <a:cs typeface="Courier New"/>
                <a:sym typeface="Courier New"/>
              </a:rPr>
              <a:t>request power cut</a:t>
            </a:r>
            <a:endParaRPr b="1" sz="1600">
              <a:solidFill>
                <a:srgbClr val="CC0000"/>
              </a:solidFill>
              <a:latin typeface="Courier New"/>
              <a:ea typeface="Courier New"/>
              <a:cs typeface="Courier New"/>
              <a:sym typeface="Courier New"/>
            </a:endParaRPr>
          </a:p>
          <a:p>
            <a:pPr indent="457200" lvl="0" marL="45720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fr" sz="1600">
                <a:solidFill>
                  <a:schemeClr val="dk1"/>
                </a:solidFill>
                <a:latin typeface="Courier New"/>
                <a:ea typeface="Courier New"/>
                <a:cs typeface="Courier New"/>
                <a:sym typeface="Courier New"/>
              </a:rPr>
              <a:t>    update temperature measurements</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fr" sz="1600">
                <a:solidFill>
                  <a:schemeClr val="dk1"/>
                </a:solidFill>
                <a:latin typeface="Courier New"/>
                <a:ea typeface="Courier New"/>
                <a:cs typeface="Courier New"/>
                <a:sym typeface="Courier New"/>
              </a:rPr>
              <a:t>    </a:t>
            </a:r>
            <a:r>
              <a:rPr b="1" lang="fr" sz="1600">
                <a:solidFill>
                  <a:srgbClr val="1C4587"/>
                </a:solidFill>
                <a:latin typeface="Courier New"/>
                <a:ea typeface="Courier New"/>
                <a:cs typeface="Courier New"/>
                <a:sym typeface="Courier New"/>
              </a:rPr>
              <a:t>every logging period:</a:t>
            </a:r>
            <a:endParaRPr b="1" sz="1600">
              <a:solidFill>
                <a:srgbClr val="1C4587"/>
              </a:solidFill>
              <a:latin typeface="Courier New"/>
              <a:ea typeface="Courier New"/>
              <a:cs typeface="Courier New"/>
              <a:sym typeface="Courier New"/>
            </a:endParaRPr>
          </a:p>
          <a:p>
            <a:pPr indent="0" lvl="0" marL="0" rtl="0" algn="l">
              <a:spcBef>
                <a:spcPts val="0"/>
              </a:spcBef>
              <a:spcAft>
                <a:spcPts val="0"/>
              </a:spcAft>
              <a:buNone/>
            </a:pPr>
            <a:r>
              <a:rPr b="1" lang="fr" sz="1600">
                <a:solidFill>
                  <a:srgbClr val="1C4587"/>
                </a:solidFill>
                <a:latin typeface="Courier New"/>
                <a:ea typeface="Courier New"/>
                <a:cs typeface="Courier New"/>
                <a:sym typeface="Courier New"/>
              </a:rPr>
              <a:t>        read all sensors</a:t>
            </a:r>
            <a:endParaRPr b="1" sz="1600">
              <a:solidFill>
                <a:srgbClr val="1C4587"/>
              </a:solidFill>
              <a:latin typeface="Courier New"/>
              <a:ea typeface="Courier New"/>
              <a:cs typeface="Courier New"/>
              <a:sym typeface="Courier New"/>
            </a:endParaRPr>
          </a:p>
          <a:p>
            <a:pPr indent="0" lvl="0" marL="0" rtl="0" algn="l">
              <a:spcBef>
                <a:spcPts val="0"/>
              </a:spcBef>
              <a:spcAft>
                <a:spcPts val="0"/>
              </a:spcAft>
              <a:buNone/>
            </a:pPr>
            <a:r>
              <a:rPr b="1" lang="fr" sz="1600">
                <a:solidFill>
                  <a:srgbClr val="1C4587"/>
                </a:solidFill>
                <a:latin typeface="Courier New"/>
                <a:ea typeface="Courier New"/>
                <a:cs typeface="Courier New"/>
                <a:sym typeface="Courier New"/>
              </a:rPr>
              <a:t>        evaluate thresholds</a:t>
            </a:r>
            <a:endParaRPr b="1" sz="1600">
              <a:solidFill>
                <a:srgbClr val="1C4587"/>
              </a:solidFill>
              <a:latin typeface="Courier New"/>
              <a:ea typeface="Courier New"/>
              <a:cs typeface="Courier New"/>
              <a:sym typeface="Courier New"/>
            </a:endParaRPr>
          </a:p>
          <a:p>
            <a:pPr indent="0" lvl="0" marL="0" rtl="0" algn="l">
              <a:spcBef>
                <a:spcPts val="0"/>
              </a:spcBef>
              <a:spcAft>
                <a:spcPts val="0"/>
              </a:spcAft>
              <a:buNone/>
            </a:pPr>
            <a:r>
              <a:rPr b="1" lang="fr" sz="1600">
                <a:solidFill>
                  <a:srgbClr val="1C4587"/>
                </a:solidFill>
                <a:latin typeface="Courier New"/>
                <a:ea typeface="Courier New"/>
                <a:cs typeface="Courier New"/>
                <a:sym typeface="Courier New"/>
              </a:rPr>
              <a:t>        log data</a:t>
            </a:r>
            <a:endParaRPr b="1" sz="1600">
              <a:solidFill>
                <a:srgbClr val="1C4587"/>
              </a:solidFill>
              <a:latin typeface="Courier New"/>
              <a:ea typeface="Courier New"/>
              <a:cs typeface="Courier New"/>
              <a:sym typeface="Courier New"/>
            </a:endParaRPr>
          </a:p>
          <a:p>
            <a:pPr indent="0" lvl="0" marL="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fr" sz="1600">
                <a:solidFill>
                  <a:schemeClr val="dk1"/>
                </a:solidFill>
                <a:latin typeface="Courier New"/>
                <a:ea typeface="Courier New"/>
                <a:cs typeface="Courier New"/>
                <a:sym typeface="Courier New"/>
              </a:rPr>
              <a:t>    update warning LED</a:t>
            </a:r>
            <a:endParaRPr b="1" sz="1600">
              <a:solidFill>
                <a:schemeClr val="dk1"/>
              </a:solidFill>
              <a:latin typeface="Courier New"/>
              <a:ea typeface="Courier New"/>
              <a:cs typeface="Courier New"/>
              <a:sym typeface="Courier New"/>
            </a:endParaRPr>
          </a:p>
        </p:txBody>
      </p:sp>
      <p:cxnSp>
        <p:nvCxnSpPr>
          <p:cNvPr id="244" name="Google Shape;244;p32"/>
          <p:cNvCxnSpPr/>
          <p:nvPr/>
        </p:nvCxnSpPr>
        <p:spPr>
          <a:xfrm flipH="1">
            <a:off x="2448625" y="1974800"/>
            <a:ext cx="16800" cy="28239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473550" y="526350"/>
            <a:ext cx="8196900" cy="4090800"/>
          </a:xfrm>
          <a:prstGeom prst="rect">
            <a:avLst/>
          </a:prstGeom>
        </p:spPr>
        <p:txBody>
          <a:bodyPr anchorCtr="0" anchor="ctr" bIns="91425" lIns="91425" spcFirstLastPara="1" rIns="91425" wrap="square" tIns="91425">
            <a:normAutofit/>
          </a:bodyPr>
          <a:lstStyle/>
          <a:p>
            <a:pPr indent="0" lvl="0" marL="0" rtl="0" algn="ctr">
              <a:lnSpc>
                <a:spcPct val="115000"/>
              </a:lnSpc>
              <a:spcBef>
                <a:spcPts val="1200"/>
              </a:spcBef>
              <a:spcAft>
                <a:spcPts val="1200"/>
              </a:spcAft>
              <a:buNone/>
            </a:pPr>
            <a:r>
              <a:rPr lang="fr"/>
              <a:t>3. Engineering Justifications &amp; Modeling</a:t>
            </a:r>
            <a:endParaRPr/>
          </a:p>
        </p:txBody>
      </p:sp>
      <p:sp>
        <p:nvSpPr>
          <p:cNvPr id="250" name="Google Shape;250;p33"/>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I2C Capacitance Budgeting</a:t>
            </a:r>
            <a:endParaRPr/>
          </a:p>
        </p:txBody>
      </p:sp>
      <p:sp>
        <p:nvSpPr>
          <p:cNvPr id="256" name="Google Shape;256;p34"/>
          <p:cNvSpPr txBox="1"/>
          <p:nvPr>
            <p:ph idx="1" type="body"/>
          </p:nvPr>
        </p:nvSpPr>
        <p:spPr>
          <a:xfrm>
            <a:off x="311700" y="1355700"/>
            <a:ext cx="8520600" cy="25158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lang="fr"/>
              <a:t>Sources of capacitance : pins, connectors, cables, perfboard stray capacitance, sensor themselves</a:t>
            </a:r>
            <a:endParaRPr/>
          </a:p>
          <a:p>
            <a:pPr indent="-342900" lvl="0" marL="457200" marR="0" rtl="0" algn="l">
              <a:lnSpc>
                <a:spcPct val="115000"/>
              </a:lnSpc>
              <a:spcBef>
                <a:spcPts val="0"/>
              </a:spcBef>
              <a:spcAft>
                <a:spcPts val="0"/>
              </a:spcAft>
              <a:buSzPts val="1800"/>
              <a:buChar char="●"/>
            </a:pPr>
            <a:r>
              <a:rPr lang="fr"/>
              <a:t>Parallel pull-ups on sensor breakout boards (10kΩ each), sets line resistance and therefore the real capacitance limit</a:t>
            </a:r>
            <a:endParaRPr/>
          </a:p>
          <a:p>
            <a:pPr indent="-342900" lvl="0" marL="457200" marR="0" rtl="0" algn="l">
              <a:lnSpc>
                <a:spcPct val="115000"/>
              </a:lnSpc>
              <a:spcBef>
                <a:spcPts val="0"/>
              </a:spcBef>
              <a:spcAft>
                <a:spcPts val="0"/>
              </a:spcAft>
              <a:buSzPts val="1800"/>
              <a:buChar char="●"/>
            </a:pPr>
            <a:r>
              <a:rPr lang="fr"/>
              <a:t>Empirical confirmation: communication worked on the prototype</a:t>
            </a:r>
            <a:endParaRPr/>
          </a:p>
          <a:p>
            <a:pPr indent="-342900" lvl="0" marL="457200" marR="0" rtl="0" algn="l">
              <a:lnSpc>
                <a:spcPct val="115000"/>
              </a:lnSpc>
              <a:spcBef>
                <a:spcPts val="0"/>
              </a:spcBef>
              <a:spcAft>
                <a:spcPts val="0"/>
              </a:spcAft>
              <a:buSzPts val="1800"/>
              <a:buChar char="●"/>
            </a:pPr>
            <a:r>
              <a:rPr lang="fr"/>
              <a:t>Could theoretically allow for ~10 sensors on 1 line before hitting minimum resistance limit</a:t>
            </a:r>
            <a:endParaRPr/>
          </a:p>
        </p:txBody>
      </p:sp>
      <p:sp>
        <p:nvSpPr>
          <p:cNvPr id="257" name="Google Shape;257;p34"/>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258" name="Google Shape;258;p34" title="Screenshot 2026-05-21 at 00.46.54.png"/>
          <p:cNvPicPr preferRelativeResize="0"/>
          <p:nvPr/>
        </p:nvPicPr>
        <p:blipFill>
          <a:blip r:embed="rId3">
            <a:alphaModFix/>
          </a:blip>
          <a:stretch>
            <a:fillRect/>
          </a:stretch>
        </p:blipFill>
        <p:spPr>
          <a:xfrm>
            <a:off x="28750" y="3766295"/>
            <a:ext cx="4225099" cy="1278080"/>
          </a:xfrm>
          <a:prstGeom prst="rect">
            <a:avLst/>
          </a:prstGeom>
          <a:noFill/>
          <a:ln>
            <a:noFill/>
          </a:ln>
        </p:spPr>
      </p:pic>
      <p:pic>
        <p:nvPicPr>
          <p:cNvPr id="259" name="Google Shape;259;p34" title="Screenshot 2026-05-21 at 00.47.29.png"/>
          <p:cNvPicPr preferRelativeResize="0"/>
          <p:nvPr/>
        </p:nvPicPr>
        <p:blipFill>
          <a:blip r:embed="rId4">
            <a:alphaModFix/>
          </a:blip>
          <a:stretch>
            <a:fillRect/>
          </a:stretch>
        </p:blipFill>
        <p:spPr>
          <a:xfrm>
            <a:off x="4202475" y="3766300"/>
            <a:ext cx="4411452" cy="1278075"/>
          </a:xfrm>
          <a:prstGeom prst="rect">
            <a:avLst/>
          </a:prstGeom>
          <a:noFill/>
          <a:ln>
            <a:noFill/>
          </a:ln>
        </p:spPr>
      </p:pic>
      <p:pic>
        <p:nvPicPr>
          <p:cNvPr id="260" name="Google Shape;260;p34" title="Screenshot 2026-05-21 at 00.49.04.png"/>
          <p:cNvPicPr preferRelativeResize="0"/>
          <p:nvPr/>
        </p:nvPicPr>
        <p:blipFill>
          <a:blip r:embed="rId5">
            <a:alphaModFix/>
          </a:blip>
          <a:stretch>
            <a:fillRect/>
          </a:stretch>
        </p:blipFill>
        <p:spPr>
          <a:xfrm>
            <a:off x="7003500" y="579575"/>
            <a:ext cx="1828800" cy="68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Electromagnetic Noise &amp; Crosstalk</a:t>
            </a:r>
            <a:endParaRPr/>
          </a:p>
        </p:txBody>
      </p:sp>
      <p:sp>
        <p:nvSpPr>
          <p:cNvPr id="266" name="Google Shape;266;p35"/>
          <p:cNvSpPr txBox="1"/>
          <p:nvPr>
            <p:ph idx="1" type="body"/>
          </p:nvPr>
        </p:nvSpPr>
        <p:spPr>
          <a:xfrm>
            <a:off x="288000" y="1440000"/>
            <a:ext cx="8520600" cy="3145800"/>
          </a:xfrm>
          <a:prstGeom prst="rect">
            <a:avLst/>
          </a:prstGeom>
        </p:spPr>
        <p:txBody>
          <a:bodyPr anchorCtr="0" anchor="t" bIns="91425" lIns="91425" spcFirstLastPara="1" rIns="91425" wrap="square" tIns="91425">
            <a:normAutofit lnSpcReduction="10000"/>
          </a:bodyPr>
          <a:lstStyle/>
          <a:p>
            <a:pPr indent="-342900" lvl="0" marL="457200" marR="0" rtl="0" algn="l">
              <a:lnSpc>
                <a:spcPct val="115000"/>
              </a:lnSpc>
              <a:spcBef>
                <a:spcPts val="0"/>
              </a:spcBef>
              <a:spcAft>
                <a:spcPts val="0"/>
              </a:spcAft>
              <a:buSzPts val="1800"/>
              <a:buChar char="●"/>
            </a:pPr>
            <a:r>
              <a:rPr lang="fr"/>
              <a:t>Casing damps most of direct noise (Faraday cage), most risk between cables </a:t>
            </a:r>
            <a:r>
              <a:rPr lang="fr"/>
              <a:t>(</a:t>
            </a:r>
            <a:r>
              <a:rPr lang="fr"/>
              <a:t>Crosstalk, due to back flow of commutation and PWN noise)</a:t>
            </a:r>
            <a:endParaRPr/>
          </a:p>
          <a:p>
            <a:pPr indent="-342900" lvl="0" marL="457200" marR="0" rtl="0" algn="l">
              <a:lnSpc>
                <a:spcPct val="115000"/>
              </a:lnSpc>
              <a:spcBef>
                <a:spcPts val="0"/>
              </a:spcBef>
              <a:spcAft>
                <a:spcPts val="0"/>
              </a:spcAft>
              <a:buSzPts val="1800"/>
              <a:buChar char="●"/>
            </a:pPr>
            <a:r>
              <a:rPr lang="fr"/>
              <a:t>Modeled geometry: motor and I2C cables parallel, 5 mm apart, over 50 mm</a:t>
            </a:r>
            <a:endParaRPr/>
          </a:p>
          <a:p>
            <a:pPr indent="-342900" lvl="0" marL="457200" marR="0" rtl="0" algn="l">
              <a:lnSpc>
                <a:spcPct val="115000"/>
              </a:lnSpc>
              <a:spcBef>
                <a:spcPts val="0"/>
              </a:spcBef>
              <a:spcAft>
                <a:spcPts val="0"/>
              </a:spcAft>
              <a:buSzPts val="1800"/>
              <a:buChar char="●"/>
            </a:pPr>
            <a:r>
              <a:rPr lang="fr"/>
              <a:t>Coupling mechanisms: capacitive and inductive</a:t>
            </a:r>
            <a:endParaRPr/>
          </a:p>
          <a:p>
            <a:pPr indent="-342900" lvl="0" marL="457200" marR="0" rtl="0" algn="l">
              <a:lnSpc>
                <a:spcPct val="115000"/>
              </a:lnSpc>
              <a:spcBef>
                <a:spcPts val="0"/>
              </a:spcBef>
              <a:spcAft>
                <a:spcPts val="0"/>
              </a:spcAft>
              <a:buSzPts val="1800"/>
              <a:buChar char="●"/>
            </a:pPr>
            <a:r>
              <a:rPr lang="fr"/>
              <a:t>Noise estimates</a:t>
            </a:r>
            <a:endParaRPr/>
          </a:p>
          <a:p>
            <a:pPr indent="-317500" lvl="1" marL="914400" marR="0" rtl="0" algn="l">
              <a:lnSpc>
                <a:spcPct val="115000"/>
              </a:lnSpc>
              <a:spcBef>
                <a:spcPts val="0"/>
              </a:spcBef>
              <a:spcAft>
                <a:spcPts val="0"/>
              </a:spcAft>
              <a:buSzPts val="1400"/>
              <a:buChar char="○"/>
            </a:pPr>
            <a:r>
              <a:rPr b="1" lang="fr" sz="1800"/>
              <a:t>Stall case: about 2.13 mV</a:t>
            </a:r>
            <a:endParaRPr b="1" sz="1800"/>
          </a:p>
          <a:p>
            <a:pPr indent="-317500" lvl="1" marL="914400" marR="0" rtl="0" algn="l">
              <a:lnSpc>
                <a:spcPct val="115000"/>
              </a:lnSpc>
              <a:spcBef>
                <a:spcPts val="0"/>
              </a:spcBef>
              <a:spcAft>
                <a:spcPts val="0"/>
              </a:spcAft>
              <a:buSzPts val="1400"/>
              <a:buChar char="○"/>
            </a:pPr>
            <a:r>
              <a:rPr b="1" lang="fr" sz="1800"/>
              <a:t>Nominal operation: about 1.63 mV</a:t>
            </a:r>
            <a:endParaRPr b="1" sz="1800"/>
          </a:p>
          <a:p>
            <a:pPr indent="-342900" lvl="0" marL="457200" marR="0" rtl="0" algn="l">
              <a:lnSpc>
                <a:spcPct val="115000"/>
              </a:lnSpc>
              <a:spcBef>
                <a:spcPts val="0"/>
              </a:spcBef>
              <a:spcAft>
                <a:spcPts val="0"/>
              </a:spcAft>
              <a:buSzPts val="1800"/>
              <a:buChar char="●"/>
            </a:pPr>
            <a:r>
              <a:rPr lang="fr"/>
              <a:t>I2C Low-level margin: 330 mV → </a:t>
            </a:r>
            <a:r>
              <a:rPr b="1" lang="fr"/>
              <a:t>Safe</a:t>
            </a:r>
            <a:endParaRPr b="1"/>
          </a:p>
          <a:p>
            <a:pPr indent="-342900" lvl="0" marL="457200" marR="0" rtl="0" algn="l">
              <a:lnSpc>
                <a:spcPct val="115000"/>
              </a:lnSpc>
              <a:spcBef>
                <a:spcPts val="0"/>
              </a:spcBef>
              <a:spcAft>
                <a:spcPts val="0"/>
              </a:spcAft>
              <a:buSzPts val="1800"/>
              <a:buChar char="●"/>
            </a:pPr>
            <a:r>
              <a:rPr lang="fr"/>
              <a:t>Checked experimentally by routing cables close together and looking for abnormal readings → </a:t>
            </a:r>
            <a:r>
              <a:rPr b="1" lang="fr"/>
              <a:t>No disturbance</a:t>
            </a:r>
            <a:endParaRPr b="1"/>
          </a:p>
        </p:txBody>
      </p:sp>
      <p:sp>
        <p:nvSpPr>
          <p:cNvPr id="267" name="Google Shape;267;p35"/>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Shock Detection Thresholds</a:t>
            </a:r>
            <a:endParaRPr/>
          </a:p>
        </p:txBody>
      </p:sp>
      <p:sp>
        <p:nvSpPr>
          <p:cNvPr id="273" name="Google Shape;273;p36"/>
          <p:cNvSpPr txBox="1"/>
          <p:nvPr>
            <p:ph idx="1" type="body"/>
          </p:nvPr>
        </p:nvSpPr>
        <p:spPr>
          <a:xfrm>
            <a:off x="324000" y="1239475"/>
            <a:ext cx="8520600" cy="40782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b="1" lang="fr"/>
              <a:t>Everyday </a:t>
            </a:r>
            <a:r>
              <a:rPr b="1" lang="fr"/>
              <a:t>activities</a:t>
            </a:r>
            <a:r>
              <a:rPr lang="fr"/>
              <a:t> can reach up to about </a:t>
            </a:r>
            <a:r>
              <a:rPr b="1" lang="fr"/>
              <a:t>10 G </a:t>
            </a:r>
            <a:r>
              <a:rPr lang="fr"/>
              <a:t>at </a:t>
            </a:r>
            <a:r>
              <a:rPr lang="fr"/>
              <a:t>wrist (running, jumping)</a:t>
            </a:r>
            <a:endParaRPr/>
          </a:p>
          <a:p>
            <a:pPr indent="-342900" lvl="0" marL="457200" marR="0" rtl="0" algn="l">
              <a:lnSpc>
                <a:spcPct val="115000"/>
              </a:lnSpc>
              <a:spcBef>
                <a:spcPts val="0"/>
              </a:spcBef>
              <a:spcAft>
                <a:spcPts val="0"/>
              </a:spcAft>
              <a:buSzPts val="1800"/>
              <a:buChar char="●"/>
            </a:pPr>
            <a:r>
              <a:rPr lang="fr"/>
              <a:t>Literature values for harsh events:</a:t>
            </a:r>
            <a:endParaRPr/>
          </a:p>
          <a:p>
            <a:pPr indent="-317500" lvl="1" marL="914400" marR="0" rtl="0" algn="l">
              <a:lnSpc>
                <a:spcPct val="115000"/>
              </a:lnSpc>
              <a:spcBef>
                <a:spcPts val="0"/>
              </a:spcBef>
              <a:spcAft>
                <a:spcPts val="0"/>
              </a:spcAft>
              <a:buSzPts val="1400"/>
              <a:buChar char="○"/>
            </a:pPr>
            <a:r>
              <a:rPr lang="fr" sz="1800"/>
              <a:t>punch: about </a:t>
            </a:r>
            <a:r>
              <a:rPr b="1" lang="fr" sz="1800"/>
              <a:t>80–230 G</a:t>
            </a:r>
            <a:endParaRPr b="1" sz="1800"/>
          </a:p>
          <a:p>
            <a:pPr indent="-317500" lvl="1" marL="914400" marR="0" rtl="0" algn="l">
              <a:lnSpc>
                <a:spcPct val="115000"/>
              </a:lnSpc>
              <a:spcBef>
                <a:spcPts val="0"/>
              </a:spcBef>
              <a:spcAft>
                <a:spcPts val="0"/>
              </a:spcAft>
              <a:buSzPts val="1400"/>
              <a:buChar char="○"/>
            </a:pPr>
            <a:r>
              <a:rPr lang="fr" sz="1800"/>
              <a:t>fall on outstretched hand: about </a:t>
            </a:r>
            <a:r>
              <a:rPr b="1" lang="fr" sz="1800"/>
              <a:t>80–130 G</a:t>
            </a:r>
            <a:endParaRPr b="1" sz="1800"/>
          </a:p>
          <a:p>
            <a:pPr indent="-342900" lvl="0" marL="457200" marR="0" rtl="0" algn="l">
              <a:lnSpc>
                <a:spcPct val="115000"/>
              </a:lnSpc>
              <a:spcBef>
                <a:spcPts val="0"/>
              </a:spcBef>
              <a:spcAft>
                <a:spcPts val="0"/>
              </a:spcAft>
              <a:buSzPts val="1800"/>
              <a:buChar char="●"/>
            </a:pPr>
            <a:r>
              <a:rPr lang="fr"/>
              <a:t>Simple drop estimate: ~</a:t>
            </a:r>
            <a:r>
              <a:rPr lang="fr" sz="1800"/>
              <a:t> 177 G (1</a:t>
            </a:r>
            <a:r>
              <a:rPr lang="fr"/>
              <a:t>m fall, 4ms impact)</a:t>
            </a:r>
            <a:endParaRPr sz="1800"/>
          </a:p>
          <a:p>
            <a:pPr indent="-342900" lvl="0" marL="457200" marR="0" rtl="0" algn="l">
              <a:lnSpc>
                <a:spcPct val="115000"/>
              </a:lnSpc>
              <a:spcBef>
                <a:spcPts val="0"/>
              </a:spcBef>
              <a:spcAft>
                <a:spcPts val="0"/>
              </a:spcAft>
              <a:buSzPts val="1800"/>
              <a:buChar char="●"/>
            </a:pPr>
            <a:r>
              <a:rPr lang="fr"/>
              <a:t>Selected threshold: </a:t>
            </a:r>
            <a:r>
              <a:rPr b="1" lang="fr"/>
              <a:t>16 G</a:t>
            </a:r>
            <a:r>
              <a:rPr lang="fr"/>
              <a:t>, matching the LIS3DH full-scale range</a:t>
            </a:r>
            <a:endParaRPr/>
          </a:p>
          <a:p>
            <a:pPr indent="0" lvl="0" marL="0" marR="0" rtl="0" algn="l">
              <a:lnSpc>
                <a:spcPct val="115000"/>
              </a:lnSpc>
              <a:spcBef>
                <a:spcPts val="1200"/>
              </a:spcBef>
              <a:spcAft>
                <a:spcPts val="0"/>
              </a:spcAft>
              <a:buNone/>
            </a:pPr>
            <a:r>
              <a:t/>
            </a:r>
            <a:endParaRPr/>
          </a:p>
          <a:p>
            <a:pPr indent="0" lvl="0" marL="0" marR="0" rtl="0" algn="l">
              <a:lnSpc>
                <a:spcPct val="115000"/>
              </a:lnSpc>
              <a:spcBef>
                <a:spcPts val="1200"/>
              </a:spcBef>
              <a:spcAft>
                <a:spcPts val="0"/>
              </a:spcAft>
              <a:buNone/>
            </a:pPr>
            <a:r>
              <a:t/>
            </a:r>
            <a:endParaRPr/>
          </a:p>
          <a:p>
            <a:pPr indent="0" lvl="0" marL="0" marR="0" rtl="0" algn="l">
              <a:lnSpc>
                <a:spcPct val="115000"/>
              </a:lnSpc>
              <a:spcBef>
                <a:spcPts val="1200"/>
              </a:spcBef>
              <a:spcAft>
                <a:spcPts val="0"/>
              </a:spcAft>
              <a:buNone/>
            </a:pPr>
            <a:r>
              <a:t/>
            </a:r>
            <a:endParaRPr/>
          </a:p>
          <a:p>
            <a:pPr indent="0" lvl="0" marL="0" marR="0" rtl="0" algn="l">
              <a:lnSpc>
                <a:spcPct val="115000"/>
              </a:lnSpc>
              <a:spcBef>
                <a:spcPts val="1200"/>
              </a:spcBef>
              <a:spcAft>
                <a:spcPts val="0"/>
              </a:spcAft>
              <a:buNone/>
            </a:pPr>
            <a:r>
              <a:t/>
            </a:r>
            <a:endParaRPr/>
          </a:p>
          <a:p>
            <a:pPr indent="-342900" lvl="0" marL="457200" marR="0" rtl="0" algn="l">
              <a:lnSpc>
                <a:spcPct val="115000"/>
              </a:lnSpc>
              <a:spcBef>
                <a:spcPts val="1200"/>
              </a:spcBef>
              <a:spcAft>
                <a:spcPts val="0"/>
              </a:spcAft>
              <a:buSzPts val="1800"/>
              <a:buChar char="●"/>
            </a:pPr>
            <a:r>
              <a:rPr lang="fr"/>
              <a:t>Gray zone of exact implementation, will require testing (hard knocks ?)</a:t>
            </a:r>
            <a:endParaRPr/>
          </a:p>
        </p:txBody>
      </p:sp>
      <p:sp>
        <p:nvSpPr>
          <p:cNvPr id="274" name="Google Shape;274;p36"/>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275" name="Google Shape;275;p36"/>
          <p:cNvPicPr preferRelativeResize="0"/>
          <p:nvPr/>
        </p:nvPicPr>
        <p:blipFill rotWithShape="1">
          <a:blip r:embed="rId3">
            <a:alphaModFix/>
          </a:blip>
          <a:srcRect b="10933" l="0" r="0" t="15543"/>
          <a:stretch/>
        </p:blipFill>
        <p:spPr>
          <a:xfrm>
            <a:off x="2299513" y="2975075"/>
            <a:ext cx="4569576" cy="15900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System Reaction Time</a:t>
            </a:r>
            <a:endParaRPr/>
          </a:p>
        </p:txBody>
      </p:sp>
      <p:sp>
        <p:nvSpPr>
          <p:cNvPr id="281" name="Google Shape;281;p37"/>
          <p:cNvSpPr txBox="1"/>
          <p:nvPr>
            <p:ph idx="1" type="body"/>
          </p:nvPr>
        </p:nvSpPr>
        <p:spPr>
          <a:xfrm>
            <a:off x="288000" y="1440000"/>
            <a:ext cx="8520600" cy="31458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fr"/>
              <a:t>Main loop idle execution time: about 5–15 µs (240MHz)</a:t>
            </a:r>
            <a:endParaRPr/>
          </a:p>
          <a:p>
            <a:pPr indent="-342900" lvl="0" marL="457200" marR="0" rtl="0" algn="l">
              <a:lnSpc>
                <a:spcPct val="115000"/>
              </a:lnSpc>
              <a:spcBef>
                <a:spcPts val="0"/>
              </a:spcBef>
              <a:spcAft>
                <a:spcPts val="0"/>
              </a:spcAft>
              <a:buSzPts val="1800"/>
              <a:buChar char="●"/>
            </a:pPr>
            <a:r>
              <a:rPr lang="fr"/>
              <a:t>Current fault reaction time: about 1.3 ms, dominated by INA260 conversion time</a:t>
            </a:r>
            <a:endParaRPr/>
          </a:p>
          <a:p>
            <a:pPr indent="-342900" lvl="0" marL="457200" marR="0" rtl="0" algn="l">
              <a:lnSpc>
                <a:spcPct val="115000"/>
              </a:lnSpc>
              <a:spcBef>
                <a:spcPts val="0"/>
              </a:spcBef>
              <a:spcAft>
                <a:spcPts val="0"/>
              </a:spcAft>
              <a:buSzPts val="1800"/>
              <a:buChar char="●"/>
            </a:pPr>
            <a:r>
              <a:rPr lang="fr"/>
              <a:t>Shock fault reaction time: about 20 ms, dominated by the LIS3DH duration filter at 200 Hz and 4 samples</a:t>
            </a:r>
            <a:endParaRPr/>
          </a:p>
          <a:p>
            <a:pPr indent="-342900" lvl="0" marL="457200" marR="0" rtl="0" algn="l">
              <a:lnSpc>
                <a:spcPct val="115000"/>
              </a:lnSpc>
              <a:spcBef>
                <a:spcPts val="0"/>
              </a:spcBef>
              <a:spcAft>
                <a:spcPts val="0"/>
              </a:spcAft>
              <a:buSzPts val="1800"/>
              <a:buChar char="●"/>
            </a:pPr>
            <a:r>
              <a:rPr lang="fr"/>
              <a:t>Design interpretation:</a:t>
            </a:r>
            <a:endParaRPr/>
          </a:p>
          <a:p>
            <a:pPr indent="-317500" lvl="1" marL="914400" marR="0" rtl="0" algn="l">
              <a:lnSpc>
                <a:spcPct val="115000"/>
              </a:lnSpc>
              <a:spcBef>
                <a:spcPts val="0"/>
              </a:spcBef>
              <a:spcAft>
                <a:spcPts val="0"/>
              </a:spcAft>
              <a:buSzPts val="1400"/>
              <a:buChar char="○"/>
            </a:pPr>
            <a:r>
              <a:rPr lang="fr" sz="1800"/>
              <a:t>fast electrical faults are cut almost immediately</a:t>
            </a:r>
            <a:endParaRPr sz="1800"/>
          </a:p>
          <a:p>
            <a:pPr indent="-317500" lvl="1" marL="914400" marR="0" rtl="0" algn="l">
              <a:lnSpc>
                <a:spcPct val="115000"/>
              </a:lnSpc>
              <a:spcBef>
                <a:spcPts val="0"/>
              </a:spcBef>
              <a:spcAft>
                <a:spcPts val="0"/>
              </a:spcAft>
              <a:buSzPts val="1400"/>
              <a:buChar char="○"/>
            </a:pPr>
            <a:r>
              <a:rPr lang="fr" sz="1800"/>
              <a:t>shock detection intentionally requires persistence to avoid false positives (doesn’t require instant reaction either way)</a:t>
            </a:r>
            <a:endParaRPr sz="1800"/>
          </a:p>
          <a:p>
            <a:pPr indent="-342900" lvl="0" marL="457200" marR="0" rtl="0" algn="l">
              <a:lnSpc>
                <a:spcPct val="115000"/>
              </a:lnSpc>
              <a:spcBef>
                <a:spcPts val="0"/>
              </a:spcBef>
              <a:spcAft>
                <a:spcPts val="0"/>
              </a:spcAft>
              <a:buSzPts val="1800"/>
              <a:buChar char="●"/>
            </a:pPr>
            <a:r>
              <a:rPr lang="fr"/>
              <a:t>The architecture is hybrid: fast interrupt-based protection for urgent events, slower periodic monitoring for slow variables</a:t>
            </a:r>
            <a:endParaRPr/>
          </a:p>
        </p:txBody>
      </p:sp>
      <p:sp>
        <p:nvSpPr>
          <p:cNvPr id="282" name="Google Shape;282;p37"/>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Poling Frequency &amp; </a:t>
            </a:r>
            <a:r>
              <a:rPr lang="fr"/>
              <a:t>Thermal Response</a:t>
            </a:r>
            <a:endParaRPr/>
          </a:p>
        </p:txBody>
      </p:sp>
      <p:sp>
        <p:nvSpPr>
          <p:cNvPr id="288" name="Google Shape;288;p38"/>
          <p:cNvSpPr txBox="1"/>
          <p:nvPr>
            <p:ph idx="1" type="body"/>
          </p:nvPr>
        </p:nvSpPr>
        <p:spPr>
          <a:xfrm>
            <a:off x="288000" y="1440000"/>
            <a:ext cx="3775500" cy="3145800"/>
          </a:xfrm>
          <a:prstGeom prst="rect">
            <a:avLst/>
          </a:prstGeom>
        </p:spPr>
        <p:txBody>
          <a:bodyPr anchorCtr="0" anchor="t" bIns="91425" lIns="91425" spcFirstLastPara="1" rIns="91425" wrap="square" tIns="91425">
            <a:normAutofit fontScale="77500"/>
          </a:bodyPr>
          <a:lstStyle/>
          <a:p>
            <a:pPr indent="-317183" lvl="0" marL="457200" marR="0" rtl="0" algn="l">
              <a:lnSpc>
                <a:spcPct val="115000"/>
              </a:lnSpc>
              <a:spcBef>
                <a:spcPts val="0"/>
              </a:spcBef>
              <a:spcAft>
                <a:spcPts val="0"/>
              </a:spcAft>
              <a:buSzPct val="100000"/>
              <a:buChar char="●"/>
            </a:pPr>
            <a:r>
              <a:rPr lang="fr"/>
              <a:t>Current and shock interrupt-based</a:t>
            </a:r>
            <a:endParaRPr/>
          </a:p>
          <a:p>
            <a:pPr indent="-317183" lvl="0" marL="457200" marR="0" rtl="0" algn="l">
              <a:lnSpc>
                <a:spcPct val="115000"/>
              </a:lnSpc>
              <a:spcBef>
                <a:spcPts val="0"/>
              </a:spcBef>
              <a:spcAft>
                <a:spcPts val="0"/>
              </a:spcAft>
              <a:buSzPct val="100000"/>
              <a:buChar char="●"/>
            </a:pPr>
            <a:r>
              <a:rPr lang="fr"/>
              <a:t>Temperature only variable potentially limited by polling frequency</a:t>
            </a:r>
            <a:endParaRPr/>
          </a:p>
          <a:p>
            <a:pPr indent="-317183" lvl="0" marL="457200" marR="0" rtl="0" algn="l">
              <a:lnSpc>
                <a:spcPct val="115000"/>
              </a:lnSpc>
              <a:spcBef>
                <a:spcPts val="0"/>
              </a:spcBef>
              <a:spcAft>
                <a:spcPts val="0"/>
              </a:spcAft>
              <a:buSzPct val="100000"/>
              <a:buChar char="●"/>
            </a:pPr>
            <a:r>
              <a:rPr lang="fr"/>
              <a:t>Under </a:t>
            </a:r>
            <a:r>
              <a:rPr b="1" lang="fr"/>
              <a:t>stall</a:t>
            </a:r>
            <a:r>
              <a:rPr lang="fr"/>
              <a:t>, the winding reaches 100°C in about </a:t>
            </a:r>
            <a:r>
              <a:rPr b="1" lang="fr"/>
              <a:t>6.5 s,</a:t>
            </a:r>
            <a:r>
              <a:rPr lang="fr"/>
              <a:t> while the casing is still only about </a:t>
            </a:r>
            <a:r>
              <a:rPr b="1" lang="fr"/>
              <a:t>33°C</a:t>
            </a:r>
            <a:endParaRPr/>
          </a:p>
          <a:p>
            <a:pPr indent="-317183" lvl="0" marL="457200" marR="0" rtl="0" algn="l">
              <a:lnSpc>
                <a:spcPct val="115000"/>
              </a:lnSpc>
              <a:spcBef>
                <a:spcPts val="0"/>
              </a:spcBef>
              <a:spcAft>
                <a:spcPts val="0"/>
              </a:spcAft>
              <a:buSzPct val="100000"/>
              <a:buChar char="●"/>
            </a:pPr>
            <a:r>
              <a:rPr lang="fr"/>
              <a:t>25 s much slower that 0.5 s poling time</a:t>
            </a:r>
            <a:endParaRPr/>
          </a:p>
          <a:p>
            <a:pPr indent="0" lvl="0" marL="0" marR="0" rtl="0" algn="l">
              <a:lnSpc>
                <a:spcPct val="115000"/>
              </a:lnSpc>
              <a:spcBef>
                <a:spcPts val="1200"/>
              </a:spcBef>
              <a:spcAft>
                <a:spcPts val="1200"/>
              </a:spcAft>
              <a:buNone/>
            </a:pPr>
            <a:r>
              <a:rPr lang="fr"/>
              <a:t>→ casing temperature is useful for </a:t>
            </a:r>
            <a:r>
              <a:rPr b="1" lang="fr"/>
              <a:t>user/structure protection and diagnostics</a:t>
            </a:r>
            <a:r>
              <a:rPr lang="fr"/>
              <a:t>, but not for direct winding protection under stall</a:t>
            </a:r>
            <a:endParaRPr sz="1200">
              <a:solidFill>
                <a:srgbClr val="D6D5D4"/>
              </a:solidFill>
              <a:latin typeface="Georgia"/>
              <a:ea typeface="Georgia"/>
              <a:cs typeface="Georgia"/>
              <a:sym typeface="Georgia"/>
            </a:endParaRPr>
          </a:p>
        </p:txBody>
      </p:sp>
      <p:sp>
        <p:nvSpPr>
          <p:cNvPr id="289" name="Google Shape;289;p38"/>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290" name="Google Shape;290;p38" title="Screenshot 2026-05-21 at 19.33.09.png"/>
          <p:cNvPicPr preferRelativeResize="0"/>
          <p:nvPr/>
        </p:nvPicPr>
        <p:blipFill>
          <a:blip r:embed="rId3">
            <a:alphaModFix/>
          </a:blip>
          <a:stretch>
            <a:fillRect/>
          </a:stretch>
        </p:blipFill>
        <p:spPr>
          <a:xfrm>
            <a:off x="4125000" y="1223375"/>
            <a:ext cx="4832624" cy="2787325"/>
          </a:xfrm>
          <a:prstGeom prst="rect">
            <a:avLst/>
          </a:prstGeom>
          <a:noFill/>
          <a:ln>
            <a:noFill/>
          </a:ln>
        </p:spPr>
      </p:pic>
      <p:sp>
        <p:nvSpPr>
          <p:cNvPr id="291" name="Google Shape;291;p38"/>
          <p:cNvSpPr txBox="1"/>
          <p:nvPr/>
        </p:nvSpPr>
        <p:spPr>
          <a:xfrm>
            <a:off x="4304025" y="4068575"/>
            <a:ext cx="46536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fr" sz="1300">
                <a:solidFill>
                  <a:schemeClr val="dk1"/>
                </a:solidFill>
                <a:latin typeface="Roboto"/>
                <a:ea typeface="Roboto"/>
                <a:cs typeface="Roboto"/>
                <a:sym typeface="Roboto"/>
              </a:rPr>
              <a:t>*</a:t>
            </a:r>
            <a:r>
              <a:rPr lang="fr" sz="1300">
                <a:solidFill>
                  <a:schemeClr val="dk1"/>
                </a:solidFill>
                <a:latin typeface="Roboto"/>
                <a:ea typeface="Roboto"/>
                <a:cs typeface="Roboto"/>
                <a:sym typeface="Roboto"/>
              </a:rPr>
              <a:t>Thermal resistance : </a:t>
            </a:r>
            <a:r>
              <a:rPr lang="fr" sz="1300">
                <a:solidFill>
                  <a:schemeClr val="dk1"/>
                </a:solidFill>
                <a:latin typeface="Roboto"/>
                <a:ea typeface="Roboto"/>
                <a:cs typeface="Roboto"/>
                <a:sym typeface="Roboto"/>
              </a:rPr>
              <a:t>63% of the steady state temperature</a:t>
            </a:r>
            <a:endParaRPr sz="13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type="title"/>
          </p:nvPr>
        </p:nvSpPr>
        <p:spPr>
          <a:xfrm>
            <a:off x="473550" y="526350"/>
            <a:ext cx="81969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5. Conclusion and Results</a:t>
            </a:r>
            <a:endParaRPr/>
          </a:p>
        </p:txBody>
      </p:sp>
      <p:sp>
        <p:nvSpPr>
          <p:cNvPr id="297" name="Google Shape;297;p39"/>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0"/>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Final Results &amp; System Successes</a:t>
            </a:r>
            <a:endParaRPr/>
          </a:p>
        </p:txBody>
      </p:sp>
      <p:sp>
        <p:nvSpPr>
          <p:cNvPr id="303" name="Google Shape;303;p40"/>
          <p:cNvSpPr txBox="1"/>
          <p:nvPr>
            <p:ph idx="1" type="body"/>
          </p:nvPr>
        </p:nvSpPr>
        <p:spPr>
          <a:xfrm>
            <a:off x="4727650" y="1440000"/>
            <a:ext cx="4080900" cy="3145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I2C &amp; 1Wire communication successful</a:t>
            </a:r>
            <a:endParaRPr/>
          </a:p>
          <a:p>
            <a:pPr indent="-342900" lvl="0" marL="457200" rtl="0" algn="l">
              <a:spcBef>
                <a:spcPts val="0"/>
              </a:spcBef>
              <a:spcAft>
                <a:spcPts val="0"/>
              </a:spcAft>
              <a:buSzPts val="1800"/>
              <a:buChar char="●"/>
            </a:pPr>
            <a:r>
              <a:rPr lang="fr"/>
              <a:t>Reacts to hardware interrupt</a:t>
            </a:r>
            <a:endParaRPr/>
          </a:p>
          <a:p>
            <a:pPr indent="-342900" lvl="0" marL="457200" rtl="0" algn="l">
              <a:spcBef>
                <a:spcPts val="0"/>
              </a:spcBef>
              <a:spcAft>
                <a:spcPts val="0"/>
              </a:spcAft>
              <a:buSzPts val="1800"/>
              <a:buChar char="●"/>
            </a:pPr>
            <a:r>
              <a:rPr lang="fr"/>
              <a:t>Flags passed thresholds</a:t>
            </a:r>
            <a:endParaRPr/>
          </a:p>
          <a:p>
            <a:pPr indent="-342900" lvl="0" marL="457200" rtl="0" algn="l">
              <a:spcBef>
                <a:spcPts val="0"/>
              </a:spcBef>
              <a:spcAft>
                <a:spcPts val="0"/>
              </a:spcAft>
              <a:buSzPts val="1800"/>
              <a:buChar char="●"/>
            </a:pPr>
            <a:r>
              <a:rPr lang="fr"/>
              <a:t>Complete build of test bench</a:t>
            </a:r>
            <a:endParaRPr/>
          </a:p>
        </p:txBody>
      </p:sp>
      <p:sp>
        <p:nvSpPr>
          <p:cNvPr id="304" name="Google Shape;304;p40"/>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305" name="Google Shape;305;p40"/>
          <p:cNvPicPr preferRelativeResize="0"/>
          <p:nvPr/>
        </p:nvPicPr>
        <p:blipFill>
          <a:blip r:embed="rId3">
            <a:alphaModFix/>
          </a:blip>
          <a:stretch>
            <a:fillRect/>
          </a:stretch>
        </p:blipFill>
        <p:spPr>
          <a:xfrm rot="5400000">
            <a:off x="448950" y="1203450"/>
            <a:ext cx="3687424" cy="3703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1"/>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Final Results &amp; System Successes</a:t>
            </a:r>
            <a:endParaRPr/>
          </a:p>
        </p:txBody>
      </p:sp>
      <p:sp>
        <p:nvSpPr>
          <p:cNvPr id="311" name="Google Shape;311;p41"/>
          <p:cNvSpPr txBox="1"/>
          <p:nvPr>
            <p:ph idx="1" type="body"/>
          </p:nvPr>
        </p:nvSpPr>
        <p:spPr>
          <a:xfrm>
            <a:off x="6071525" y="1248225"/>
            <a:ext cx="2949600" cy="3145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Graphical User Interface (GUI)</a:t>
            </a:r>
            <a:endParaRPr/>
          </a:p>
          <a:p>
            <a:pPr indent="-342900" lvl="0" marL="457200" rtl="0" algn="l">
              <a:spcBef>
                <a:spcPts val="1200"/>
              </a:spcBef>
              <a:spcAft>
                <a:spcPts val="0"/>
              </a:spcAft>
              <a:buSzPts val="1800"/>
              <a:buChar char="-"/>
            </a:pPr>
            <a:r>
              <a:rPr lang="fr"/>
              <a:t>Live plotting of measured metrics</a:t>
            </a:r>
            <a:endParaRPr/>
          </a:p>
          <a:p>
            <a:pPr indent="-342900" lvl="0" marL="457200" rtl="0" algn="l">
              <a:spcBef>
                <a:spcPts val="0"/>
              </a:spcBef>
              <a:spcAft>
                <a:spcPts val="0"/>
              </a:spcAft>
              <a:buSzPts val="1800"/>
              <a:buChar char="-"/>
            </a:pPr>
            <a:r>
              <a:rPr lang="fr"/>
              <a:t>Visualisation of flags</a:t>
            </a:r>
            <a:endParaRPr/>
          </a:p>
          <a:p>
            <a:pPr indent="-342900" lvl="0" marL="457200" rtl="0" algn="l">
              <a:spcBef>
                <a:spcPts val="0"/>
              </a:spcBef>
              <a:spcAft>
                <a:spcPts val="0"/>
              </a:spcAft>
              <a:buSzPts val="1800"/>
              <a:buChar char="-"/>
            </a:pPr>
            <a:r>
              <a:rPr lang="fr"/>
              <a:t>Visualisation of </a:t>
            </a:r>
            <a:r>
              <a:rPr lang="fr"/>
              <a:t>power cut</a:t>
            </a:r>
            <a:endParaRPr/>
          </a:p>
          <a:p>
            <a:pPr indent="-342900" lvl="0" marL="457200" rtl="0" algn="l">
              <a:spcBef>
                <a:spcPts val="0"/>
              </a:spcBef>
              <a:spcAft>
                <a:spcPts val="0"/>
              </a:spcAft>
              <a:buSzPts val="1800"/>
              <a:buChar char="-"/>
            </a:pPr>
            <a:r>
              <a:rPr lang="fr"/>
              <a:t>Possibility to remove some metrics from the view</a:t>
            </a:r>
            <a:endParaRPr/>
          </a:p>
        </p:txBody>
      </p:sp>
      <p:sp>
        <p:nvSpPr>
          <p:cNvPr id="312" name="Google Shape;312;p41"/>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313" name="Google Shape;313;p41"/>
          <p:cNvSpPr txBox="1"/>
          <p:nvPr>
            <p:ph idx="1" type="body"/>
          </p:nvPr>
        </p:nvSpPr>
        <p:spPr>
          <a:xfrm rot="2169528">
            <a:off x="1173554" y="2446141"/>
            <a:ext cx="2576838" cy="1314281"/>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fr" sz="4800">
                <a:solidFill>
                  <a:srgbClr val="FF0000"/>
                </a:solidFill>
              </a:rPr>
              <a:t>GUI</a:t>
            </a:r>
            <a:endParaRPr b="1" sz="4800">
              <a:solidFill>
                <a:srgbClr val="FF0000"/>
              </a:solidFill>
            </a:endParaRPr>
          </a:p>
        </p:txBody>
      </p:sp>
      <p:pic>
        <p:nvPicPr>
          <p:cNvPr id="314" name="Google Shape;314;p41" title="Screenshot 2026-05-21 at 19.08.45.png"/>
          <p:cNvPicPr preferRelativeResize="0"/>
          <p:nvPr/>
        </p:nvPicPr>
        <p:blipFill>
          <a:blip r:embed="rId3">
            <a:alphaModFix/>
          </a:blip>
          <a:stretch>
            <a:fillRect/>
          </a:stretch>
        </p:blipFill>
        <p:spPr>
          <a:xfrm>
            <a:off x="0" y="1280825"/>
            <a:ext cx="5941852" cy="34641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2"/>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Known Limitations</a:t>
            </a:r>
            <a:endParaRPr/>
          </a:p>
        </p:txBody>
      </p:sp>
      <p:sp>
        <p:nvSpPr>
          <p:cNvPr id="320" name="Google Shape;320;p42"/>
          <p:cNvSpPr txBox="1"/>
          <p:nvPr>
            <p:ph idx="1" type="body"/>
          </p:nvPr>
        </p:nvSpPr>
        <p:spPr>
          <a:xfrm>
            <a:off x="288000" y="1440000"/>
            <a:ext cx="8520600" cy="3145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Power button &amp; MicroSD logging not implemented or tested since hardware never arrived</a:t>
            </a:r>
            <a:endParaRPr/>
          </a:p>
          <a:p>
            <a:pPr indent="-342900" lvl="0" marL="457200" rtl="0" algn="l">
              <a:spcBef>
                <a:spcPts val="0"/>
              </a:spcBef>
              <a:spcAft>
                <a:spcPts val="0"/>
              </a:spcAft>
              <a:buSzPts val="1800"/>
              <a:buChar char="●"/>
            </a:pPr>
            <a:r>
              <a:rPr lang="fr"/>
              <a:t>Very simple prototype, needs to be completely reworked to be implemented or tested with the arm</a:t>
            </a:r>
            <a:endParaRPr/>
          </a:p>
          <a:p>
            <a:pPr indent="-342900" lvl="0" marL="457200" rtl="0" algn="l">
              <a:spcBef>
                <a:spcPts val="0"/>
              </a:spcBef>
              <a:spcAft>
                <a:spcPts val="0"/>
              </a:spcAft>
              <a:buSzPts val="1800"/>
              <a:buChar char="●"/>
            </a:pPr>
            <a:r>
              <a:rPr lang="fr"/>
              <a:t>Likely false positives (power cut) in case of a hard knock, requires calibration on final implementation (worst cast sensor with wider g range)</a:t>
            </a:r>
            <a:endParaRPr/>
          </a:p>
        </p:txBody>
      </p:sp>
      <p:sp>
        <p:nvSpPr>
          <p:cNvPr id="321" name="Google Shape;321;p42"/>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3"/>
          <p:cNvSpPr txBox="1"/>
          <p:nvPr>
            <p:ph type="title"/>
          </p:nvPr>
        </p:nvSpPr>
        <p:spPr>
          <a:xfrm>
            <a:off x="324000" y="432000"/>
            <a:ext cx="8520600" cy="646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fr"/>
              <a:t>Next Steps</a:t>
            </a:r>
            <a:endParaRPr/>
          </a:p>
        </p:txBody>
      </p:sp>
      <p:sp>
        <p:nvSpPr>
          <p:cNvPr id="327" name="Google Shape;327;p43"/>
          <p:cNvSpPr txBox="1"/>
          <p:nvPr>
            <p:ph idx="1" type="body"/>
          </p:nvPr>
        </p:nvSpPr>
        <p:spPr>
          <a:xfrm>
            <a:off x="288000" y="1440000"/>
            <a:ext cx="8520600" cy="314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fr" sz="2000"/>
              <a:t>Go further on the prototype</a:t>
            </a:r>
            <a:endParaRPr sz="2000"/>
          </a:p>
          <a:p>
            <a:pPr indent="-330200" lvl="1" marL="914400" rtl="0" algn="l">
              <a:spcBef>
                <a:spcPts val="0"/>
              </a:spcBef>
              <a:spcAft>
                <a:spcPts val="0"/>
              </a:spcAft>
              <a:buSzPts val="1600"/>
              <a:buChar char="○"/>
            </a:pPr>
            <a:r>
              <a:rPr lang="fr" sz="1600"/>
              <a:t>Implement Power cut switch and data storage</a:t>
            </a:r>
            <a:endParaRPr sz="1600"/>
          </a:p>
          <a:p>
            <a:pPr indent="-330200" lvl="1" marL="914400" rtl="0" algn="l">
              <a:spcBef>
                <a:spcPts val="0"/>
              </a:spcBef>
              <a:spcAft>
                <a:spcPts val="0"/>
              </a:spcAft>
              <a:buSzPts val="1600"/>
              <a:buChar char="○"/>
            </a:pPr>
            <a:r>
              <a:rPr lang="fr" sz="1600"/>
              <a:t>Testing with motor under load (Electromagnetic noise, overheating ?)</a:t>
            </a:r>
            <a:endParaRPr sz="1600"/>
          </a:p>
          <a:p>
            <a:pPr indent="-330200" lvl="1" marL="914400" rtl="0" algn="l">
              <a:spcBef>
                <a:spcPts val="0"/>
              </a:spcBef>
              <a:spcAft>
                <a:spcPts val="0"/>
              </a:spcAft>
              <a:buSzPts val="1600"/>
              <a:buChar char="○"/>
            </a:pPr>
            <a:r>
              <a:rPr lang="fr" sz="1600"/>
              <a:t>Prediction using gradient</a:t>
            </a:r>
            <a:endParaRPr sz="1600"/>
          </a:p>
          <a:p>
            <a:pPr indent="-330200" lvl="1" marL="914400" rtl="0" algn="l">
              <a:spcBef>
                <a:spcPts val="0"/>
              </a:spcBef>
              <a:spcAft>
                <a:spcPts val="0"/>
              </a:spcAft>
              <a:buSzPts val="1600"/>
              <a:buChar char="○"/>
            </a:pPr>
            <a:r>
              <a:rPr lang="fr" sz="1600"/>
              <a:t>Implement on the real prosthetic to validate before redesign</a:t>
            </a:r>
            <a:endParaRPr sz="1600"/>
          </a:p>
          <a:p>
            <a:pPr indent="-355600" lvl="0" marL="457200" rtl="0" algn="l">
              <a:spcBef>
                <a:spcPts val="0"/>
              </a:spcBef>
              <a:spcAft>
                <a:spcPts val="0"/>
              </a:spcAft>
              <a:buSzPts val="2000"/>
              <a:buChar char="●"/>
            </a:pPr>
            <a:r>
              <a:rPr lang="fr" sz="2000"/>
              <a:t>Redesign</a:t>
            </a:r>
            <a:endParaRPr sz="2000"/>
          </a:p>
          <a:p>
            <a:pPr indent="-330200" lvl="1" marL="914400" rtl="0" algn="l">
              <a:spcBef>
                <a:spcPts val="0"/>
              </a:spcBef>
              <a:spcAft>
                <a:spcPts val="0"/>
              </a:spcAft>
              <a:buSzPts val="1600"/>
              <a:buChar char="○"/>
            </a:pPr>
            <a:r>
              <a:rPr lang="fr" sz="1600"/>
              <a:t>PCB for the hand that regroups all sensors</a:t>
            </a:r>
            <a:endParaRPr sz="1600"/>
          </a:p>
          <a:p>
            <a:pPr indent="-330200" lvl="1" marL="914400" rtl="0" algn="l">
              <a:spcBef>
                <a:spcPts val="0"/>
              </a:spcBef>
              <a:spcAft>
                <a:spcPts val="0"/>
              </a:spcAft>
              <a:buSzPts val="1600"/>
              <a:buChar char="○"/>
            </a:pPr>
            <a:r>
              <a:rPr lang="fr" sz="1600"/>
              <a:t>PCB for MCU and wrist sensors</a:t>
            </a:r>
            <a:endParaRPr sz="1600"/>
          </a:p>
        </p:txBody>
      </p:sp>
      <p:sp>
        <p:nvSpPr>
          <p:cNvPr id="328" name="Google Shape;328;p43"/>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txBox="1"/>
          <p:nvPr>
            <p:ph type="title"/>
          </p:nvPr>
        </p:nvSpPr>
        <p:spPr>
          <a:xfrm>
            <a:off x="473550" y="526350"/>
            <a:ext cx="81969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Questions ? </a:t>
            </a:r>
            <a:endParaRPr/>
          </a:p>
        </p:txBody>
      </p:sp>
      <p:sp>
        <p:nvSpPr>
          <p:cNvPr id="334" name="Google Shape;334;p44"/>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45">
            <a:hlinkClick r:id="rId3"/>
          </p:cNvPr>
          <p:cNvPicPr preferRelativeResize="0"/>
          <p:nvPr/>
        </p:nvPicPr>
        <p:blipFill>
          <a:blip r:embed="rId4">
            <a:alphaModFix/>
          </a:blip>
          <a:stretch>
            <a:fillRect/>
          </a:stretch>
        </p:blipFill>
        <p:spPr>
          <a:xfrm>
            <a:off x="4585813" y="4518149"/>
            <a:ext cx="323275" cy="323275"/>
          </a:xfrm>
          <a:prstGeom prst="rect">
            <a:avLst/>
          </a:prstGeom>
          <a:noFill/>
          <a:ln>
            <a:noFill/>
          </a:ln>
        </p:spPr>
      </p:pic>
      <p:pic>
        <p:nvPicPr>
          <p:cNvPr id="340" name="Google Shape;340;p45">
            <a:hlinkClick r:id="rId5"/>
          </p:cNvPr>
          <p:cNvPicPr preferRelativeResize="0"/>
          <p:nvPr/>
        </p:nvPicPr>
        <p:blipFill>
          <a:blip r:embed="rId6">
            <a:alphaModFix/>
          </a:blip>
          <a:stretch>
            <a:fillRect/>
          </a:stretch>
        </p:blipFill>
        <p:spPr>
          <a:xfrm>
            <a:off x="4113813" y="4518150"/>
            <a:ext cx="323275" cy="323275"/>
          </a:xfrm>
          <a:prstGeom prst="rect">
            <a:avLst/>
          </a:prstGeom>
          <a:noFill/>
          <a:ln>
            <a:noFill/>
          </a:ln>
        </p:spPr>
      </p:pic>
      <p:sp>
        <p:nvSpPr>
          <p:cNvPr id="341" name="Google Shape;341;p45"/>
          <p:cNvSpPr txBox="1"/>
          <p:nvPr/>
        </p:nvSpPr>
        <p:spPr>
          <a:xfrm>
            <a:off x="2969400" y="3592863"/>
            <a:ext cx="3205200" cy="5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700" u="sng">
                <a:solidFill>
                  <a:schemeClr val="lt1"/>
                </a:solidFill>
                <a:latin typeface="Inter Tight"/>
                <a:ea typeface="Inter Tight"/>
                <a:cs typeface="Inter Tight"/>
                <a:sym typeface="Inter Tight"/>
                <a:hlinkClick r:id="rId7">
                  <a:extLst>
                    <a:ext uri="{A12FA001-AC4F-418D-AE19-62706E023703}">
                      <ahyp:hlinkClr val="tx"/>
                    </a:ext>
                  </a:extLst>
                </a:hlinkClick>
              </a:rPr>
              <a:t>contact@epfl-npulse.ch</a:t>
            </a:r>
            <a:endParaRPr sz="1700">
              <a:solidFill>
                <a:schemeClr val="lt1"/>
              </a:solidFill>
              <a:latin typeface="Inter Tight"/>
              <a:ea typeface="Inter Tight"/>
              <a:cs typeface="Inter Tight"/>
              <a:sym typeface="Inter Tight"/>
            </a:endParaRPr>
          </a:p>
        </p:txBody>
      </p:sp>
      <p:sp>
        <p:nvSpPr>
          <p:cNvPr id="342" name="Google Shape;342;p45"/>
          <p:cNvSpPr txBox="1"/>
          <p:nvPr/>
        </p:nvSpPr>
        <p:spPr>
          <a:xfrm>
            <a:off x="3330900" y="3206488"/>
            <a:ext cx="2482200" cy="5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700" u="sng">
                <a:solidFill>
                  <a:schemeClr val="lt1"/>
                </a:solidFill>
                <a:latin typeface="Inter Tight"/>
                <a:ea typeface="Inter Tight"/>
                <a:cs typeface="Inter Tight"/>
                <a:sym typeface="Inter Tight"/>
                <a:hlinkClick r:id="rId8">
                  <a:extLst>
                    <a:ext uri="{A12FA001-AC4F-418D-AE19-62706E023703}">
                      <ahyp:hlinkClr val="tx"/>
                    </a:ext>
                  </a:extLst>
                </a:hlinkClick>
              </a:rPr>
              <a:t>epfl-npulse.ch</a:t>
            </a:r>
            <a:endParaRPr sz="1700">
              <a:solidFill>
                <a:schemeClr val="lt1"/>
              </a:solidFill>
              <a:latin typeface="Inter Tight"/>
              <a:ea typeface="Inter Tight"/>
              <a:cs typeface="Inter Tight"/>
              <a:sym typeface="Inter Tight"/>
            </a:endParaRPr>
          </a:p>
        </p:txBody>
      </p:sp>
      <p:sp>
        <p:nvSpPr>
          <p:cNvPr id="343" name="Google Shape;343;p45"/>
          <p:cNvSpPr txBox="1"/>
          <p:nvPr>
            <p:ph idx="12" type="sldNum"/>
          </p:nvPr>
        </p:nvSpPr>
        <p:spPr>
          <a:xfrm>
            <a:off x="8472458" y="18596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2D3332"/>
      </a:dk1>
      <a:lt1>
        <a:srgbClr val="FFFFFF"/>
      </a:lt1>
      <a:dk2>
        <a:srgbClr val="B7B7B7"/>
      </a:dk2>
      <a:lt2>
        <a:srgbClr val="CCA677"/>
      </a:lt2>
      <a:accent1>
        <a:srgbClr val="45A898"/>
      </a:accent1>
      <a:accent2>
        <a:srgbClr val="A86145"/>
      </a:accent2>
      <a:accent3>
        <a:srgbClr val="456963"/>
      </a:accent3>
      <a:accent4>
        <a:srgbClr val="2D3332"/>
      </a:accent4>
      <a:accent5>
        <a:srgbClr val="46A999"/>
      </a:accent5>
      <a:accent6>
        <a:srgbClr val="456963"/>
      </a:accent6>
      <a:hlink>
        <a:srgbClr val="999999"/>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